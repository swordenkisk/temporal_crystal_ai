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1300163"/>
            <a:ext cx="3857625" cy="1234418"/>
          </a:xfrm>
          <a:prstGeom prst="rect">
            <a:avLst/>
          </a:prstGeom>
          <a:noFill/>
          <a:ln/>
        </p:spPr>
        <p:txBody>
          <a:bodyPr wrap="square" lIns="0" tIns="0" rIns="0" bIns="0" rtlCol="0" anchor="t">
            <a:spAutoFit/>
          </a:bodyPr>
          <a:lstStyle/>
          <a:p>
            <a:pPr algn="l" indent="0" marL="0">
              <a:lnSpc>
                <a:spcPts val="4900"/>
              </a:lnSpc>
              <a:buNone/>
            </a:pPr>
            <a:r>
              <a:rPr lang="en-US" sz="3731" b="1" dirty="0">
                <a:solidFill>
                  <a:srgbClr val="0A192F"/>
                </a:solidFill>
                <a:latin typeface="Playfair Display" pitchFamily="34" charset="0"/>
                <a:ea typeface="Playfair Display" pitchFamily="34" charset="-122"/>
                <a:cs typeface="Playfair Display" pitchFamily="34" charset="-120"/>
              </a:rPr>
              <a:t>Patent Oracle ⚛️</a:t>
            </a:r>
            <a:endParaRPr lang="en-US" sz="3731" dirty="0"/>
          </a:p>
        </p:txBody>
      </p:sp>
      <p:sp>
        <p:nvSpPr>
          <p:cNvPr id="4" name="Text 1"/>
          <p:cNvSpPr/>
          <p:nvPr/>
        </p:nvSpPr>
        <p:spPr>
          <a:xfrm>
            <a:off x="571500" y="3563280"/>
            <a:ext cx="3857625" cy="280029"/>
          </a:xfrm>
          <a:prstGeom prst="rect">
            <a:avLst/>
          </a:prstGeom>
          <a:noFill/>
          <a:ln/>
        </p:spPr>
        <p:txBody>
          <a:bodyPr wrap="none" lIns="0" tIns="0" rIns="0" bIns="0" rtlCol="0" anchor="t">
            <a:spAutoFit/>
          </a:bodyPr>
          <a:lstStyle/>
          <a:p>
            <a:pPr algn="l" indent="0" marL="0">
              <a:lnSpc>
                <a:spcPts val="2200"/>
              </a:lnSpc>
              <a:buNone/>
            </a:pPr>
            <a:r>
              <a:rPr lang="en-US" sz="1486" dirty="0">
                <a:solidFill>
                  <a:srgbClr val="333333"/>
                </a:solidFill>
                <a:latin typeface="Lato" pitchFamily="34" charset="0"/>
                <a:ea typeface="Lato" pitchFamily="34" charset="-122"/>
                <a:cs typeface="Lato" pitchFamily="34" charset="-120"/>
              </a:rPr>
              <a:t>AI-Powered Patent Innovation Platform</a:t>
            </a:r>
            <a:endParaRPr lang="en-US" sz="1486" dirty="0"/>
          </a:p>
        </p:txBody>
      </p:sp>
      <p:sp>
        <p:nvSpPr>
          <p:cNvPr id="5" name="Text 2"/>
          <p:cNvSpPr/>
          <p:nvPr/>
        </p:nvSpPr>
        <p:spPr>
          <a:xfrm>
            <a:off x="5563195" y="1811806"/>
            <a:ext cx="2723555" cy="119658"/>
          </a:xfrm>
          <a:prstGeom prst="rect">
            <a:avLst/>
          </a:prstGeom>
          <a:noFill/>
          <a:ln/>
        </p:spPr>
        <p:txBody>
          <a:bodyPr wrap="none" lIns="0" tIns="0" rIns="0" bIns="0" rtlCol="0" anchor="t">
            <a:spAutoFit/>
          </a:bodyPr>
          <a:lstStyle/>
          <a:p>
            <a:pPr algn="r" indent="0" marL="0">
              <a:lnSpc>
                <a:spcPts val="900"/>
              </a:lnSpc>
              <a:buNone/>
            </a:pPr>
            <a:r>
              <a:rPr lang="en-US" sz="727" spc="2" kern="0" dirty="0">
                <a:solidFill>
                  <a:srgbClr val="999999"/>
                </a:solidFill>
                <a:latin typeface="Lato" pitchFamily="34" charset="0"/>
                <a:ea typeface="Lato" pitchFamily="34" charset="-122"/>
                <a:cs typeface="Lato" pitchFamily="34" charset="-120"/>
              </a:rPr>
              <a:t>PRESENTER</a:t>
            </a:r>
            <a:endParaRPr lang="en-US" sz="727" dirty="0"/>
          </a:p>
        </p:txBody>
      </p:sp>
      <p:sp>
        <p:nvSpPr>
          <p:cNvPr id="6" name="Text 3"/>
          <p:cNvSpPr/>
          <p:nvPr/>
        </p:nvSpPr>
        <p:spPr>
          <a:xfrm>
            <a:off x="5563195" y="1988614"/>
            <a:ext cx="2723555" cy="303609"/>
          </a:xfrm>
          <a:prstGeom prst="rect">
            <a:avLst/>
          </a:prstGeom>
          <a:noFill/>
          <a:ln/>
        </p:spPr>
        <p:txBody>
          <a:bodyPr wrap="none" lIns="0" tIns="0" rIns="0" bIns="0" rtlCol="0" anchor="t">
            <a:spAutoFit/>
          </a:bodyPr>
          <a:lstStyle/>
          <a:p>
            <a:pPr algn="r" indent="0" marL="0">
              <a:lnSpc>
                <a:spcPts val="2200"/>
              </a:lnSpc>
              <a:buNone/>
            </a:pPr>
            <a:r>
              <a:rPr lang="en-US" sz="1602" b="1" dirty="0">
                <a:solidFill>
                  <a:srgbClr val="0A192F"/>
                </a:solidFill>
                <a:latin typeface="Playfair Display" pitchFamily="34" charset="0"/>
                <a:ea typeface="Playfair Display" pitchFamily="34" charset="-122"/>
                <a:cs typeface="Playfair Display" pitchFamily="34" charset="-120"/>
              </a:rPr>
              <a:t>Benlehlali Mohand Amine</a:t>
            </a:r>
            <a:endParaRPr lang="en-US" sz="1602" dirty="0"/>
          </a:p>
        </p:txBody>
      </p:sp>
      <p:sp>
        <p:nvSpPr>
          <p:cNvPr id="7" name="Text 4"/>
          <p:cNvSpPr/>
          <p:nvPr/>
        </p:nvSpPr>
        <p:spPr>
          <a:xfrm>
            <a:off x="5563195" y="2363660"/>
            <a:ext cx="2723555" cy="137517"/>
          </a:xfrm>
          <a:prstGeom prst="rect">
            <a:avLst/>
          </a:prstGeom>
          <a:noFill/>
          <a:ln/>
        </p:spPr>
        <p:txBody>
          <a:bodyPr wrap="none" lIns="0" tIns="0" rIns="0" bIns="0" rtlCol="0" anchor="t">
            <a:spAutoFit/>
          </a:bodyPr>
          <a:lstStyle/>
          <a:p>
            <a:pPr algn="r" indent="0" marL="0">
              <a:lnSpc>
                <a:spcPts val="1100"/>
              </a:lnSpc>
              <a:buNone/>
            </a:pPr>
            <a:r>
              <a:rPr lang="en-US" sz="834" dirty="0">
                <a:solidFill>
                  <a:srgbClr val="333333"/>
                </a:solidFill>
                <a:latin typeface="Lato" pitchFamily="34" charset="0"/>
                <a:ea typeface="Lato" pitchFamily="34" charset="-122"/>
                <a:cs typeface="Lato" pitchFamily="34" charset="-120"/>
              </a:rPr>
              <a:t>Tlemcen, Algeria</a:t>
            </a:r>
            <a:endParaRPr lang="en-US" sz="834" dirty="0"/>
          </a:p>
        </p:txBody>
      </p:sp>
      <p:sp>
        <p:nvSpPr>
          <p:cNvPr id="8" name="Text 5"/>
          <p:cNvSpPr/>
          <p:nvPr/>
        </p:nvSpPr>
        <p:spPr>
          <a:xfrm>
            <a:off x="7058025" y="2944090"/>
            <a:ext cx="1228725" cy="101798"/>
          </a:xfrm>
          <a:prstGeom prst="rect">
            <a:avLst/>
          </a:prstGeom>
          <a:noFill/>
          <a:ln/>
        </p:spPr>
        <p:txBody>
          <a:bodyPr wrap="none" lIns="0" tIns="0" rIns="0" bIns="0" rtlCol="0" anchor="t">
            <a:spAutoFit/>
          </a:bodyPr>
          <a:lstStyle/>
          <a:p>
            <a:pPr algn="r" indent="0" marL="0">
              <a:lnSpc>
                <a:spcPts val="800"/>
              </a:lnSpc>
              <a:buNone/>
            </a:pPr>
            <a:r>
              <a:rPr lang="en-US" sz="621" spc="1" kern="0" dirty="0">
                <a:solidFill>
                  <a:srgbClr val="999999"/>
                </a:solidFill>
                <a:latin typeface="Lato" pitchFamily="34" charset="0"/>
                <a:ea typeface="Lato" pitchFamily="34" charset="-122"/>
                <a:cs typeface="Lato" pitchFamily="34" charset="-120"/>
              </a:rPr>
              <a:t>DATE</a:t>
            </a:r>
            <a:endParaRPr lang="en-US" sz="621" dirty="0"/>
          </a:p>
        </p:txBody>
      </p:sp>
      <p:sp>
        <p:nvSpPr>
          <p:cNvPr id="9" name="Text 6"/>
          <p:cNvSpPr/>
          <p:nvPr/>
        </p:nvSpPr>
        <p:spPr>
          <a:xfrm>
            <a:off x="7058025" y="3103039"/>
            <a:ext cx="1228725" cy="228600"/>
          </a:xfrm>
          <a:prstGeom prst="rect">
            <a:avLst/>
          </a:prstGeom>
          <a:noFill/>
          <a:ln/>
        </p:spPr>
        <p:txBody>
          <a:bodyPr wrap="none" lIns="0" tIns="0" rIns="0" bIns="0" rtlCol="0" anchor="t">
            <a:spAutoFit/>
          </a:bodyPr>
          <a:lstStyle/>
          <a:p>
            <a:pPr algn="r" indent="0" marL="0">
              <a:lnSpc>
                <a:spcPts val="1600"/>
              </a:lnSpc>
              <a:buNone/>
            </a:pPr>
            <a:r>
              <a:rPr lang="en-US" sz="1193" b="1" dirty="0">
                <a:solidFill>
                  <a:srgbClr val="0A192F"/>
                </a:solidFill>
                <a:latin typeface="Playfair Display" pitchFamily="34" charset="0"/>
                <a:ea typeface="Playfair Display" pitchFamily="34" charset="-122"/>
                <a:cs typeface="Playfair Display" pitchFamily="34" charset="-120"/>
              </a:rPr>
              <a:t>March 09, 2026</a:t>
            </a:r>
            <a:endParaRPr lang="en-US" sz="119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1145177"/>
            <a:ext cx="3786188" cy="960109"/>
          </a:xfrm>
          <a:prstGeom prst="rect">
            <a:avLst/>
          </a:prstGeom>
          <a:noFill/>
          <a:ln/>
        </p:spPr>
        <p:txBody>
          <a:bodyPr wrap="squar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What is Patent Oracle?</a:t>
            </a:r>
            <a:endParaRPr lang="en-US" sz="2862" dirty="0"/>
          </a:p>
        </p:txBody>
      </p:sp>
      <p:sp>
        <p:nvSpPr>
          <p:cNvPr id="4" name="Text 1"/>
          <p:cNvSpPr/>
          <p:nvPr/>
        </p:nvSpPr>
        <p:spPr>
          <a:xfrm>
            <a:off x="571500" y="2555342"/>
            <a:ext cx="3786188" cy="1157232"/>
          </a:xfrm>
          <a:prstGeom prst="rect">
            <a:avLst/>
          </a:prstGeom>
          <a:noFill/>
          <a:ln/>
        </p:spPr>
        <p:txBody>
          <a:bodyPr wrap="square" lIns="0" tIns="0" rIns="0" bIns="0" rtlCol="0" anchor="t">
            <a:spAutoFit/>
          </a:bodyPr>
          <a:lstStyle/>
          <a:p>
            <a:pPr algn="l" indent="0" marL="0">
              <a:lnSpc>
                <a:spcPts val="1800"/>
              </a:lnSpc>
              <a:buNone/>
            </a:pPr>
            <a:r>
              <a:rPr lang="en-US" sz="942" dirty="0">
                <a:solidFill>
                  <a:srgbClr val="333333"/>
                </a:solidFill>
                <a:latin typeface="Lato" pitchFamily="34" charset="0"/>
                <a:ea typeface="Lato" pitchFamily="34" charset="-122"/>
                <a:cs typeface="Lato" pitchFamily="34" charset="-120"/>
              </a:rPr>
              <a:t>Patent Oracle is an advanced AI-driven system designed to generate unprecedented patent ideas. The system combines three distinct scientific domains to create novel technical concepts, while validating their novelty through the European Patent Office (EPO) database.</a:t>
            </a:r>
            <a:endParaRPr lang="en-US" sz="942" dirty="0"/>
          </a:p>
        </p:txBody>
      </p:sp>
      <p:sp>
        <p:nvSpPr>
          <p:cNvPr id="5" name="Text 2"/>
          <p:cNvSpPr/>
          <p:nvPr/>
        </p:nvSpPr>
        <p:spPr>
          <a:xfrm>
            <a:off x="4957763" y="1538083"/>
            <a:ext cx="3614738" cy="101798"/>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999999"/>
                </a:solidFill>
                <a:latin typeface="Lato" pitchFamily="34" charset="0"/>
                <a:ea typeface="Lato" pitchFamily="34" charset="-122"/>
                <a:cs typeface="Lato" pitchFamily="34" charset="-120"/>
              </a:rPr>
              <a:t>PRIMARY GOAL</a:t>
            </a:r>
            <a:endParaRPr lang="en-US" sz="621" dirty="0"/>
          </a:p>
        </p:txBody>
      </p:sp>
      <p:sp>
        <p:nvSpPr>
          <p:cNvPr id="6" name="Text 3"/>
          <p:cNvSpPr/>
          <p:nvPr/>
        </p:nvSpPr>
        <p:spPr>
          <a:xfrm>
            <a:off x="4957763" y="1711319"/>
            <a:ext cx="36147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0A192F"/>
                </a:solidFill>
                <a:latin typeface="Lato" pitchFamily="34" charset="0"/>
                <a:ea typeface="Lato" pitchFamily="34" charset="-122"/>
                <a:cs typeface="Lato" pitchFamily="34" charset="-120"/>
              </a:rPr>
              <a:t>Accelerate innovation and generate high-quality patents</a:t>
            </a:r>
            <a:endParaRPr lang="en-US" sz="784" dirty="0"/>
          </a:p>
        </p:txBody>
      </p:sp>
      <p:sp>
        <p:nvSpPr>
          <p:cNvPr id="7" name="Text 4"/>
          <p:cNvSpPr/>
          <p:nvPr/>
        </p:nvSpPr>
        <p:spPr>
          <a:xfrm>
            <a:off x="4957763" y="2108495"/>
            <a:ext cx="3614738" cy="101798"/>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999999"/>
                </a:solidFill>
                <a:latin typeface="Lato" pitchFamily="34" charset="0"/>
                <a:ea typeface="Lato" pitchFamily="34" charset="-122"/>
                <a:cs typeface="Lato" pitchFamily="34" charset="-120"/>
              </a:rPr>
              <a:t>CORE TECHNOLOGY</a:t>
            </a:r>
            <a:endParaRPr lang="en-US" sz="621" dirty="0"/>
          </a:p>
        </p:txBody>
      </p:sp>
      <p:sp>
        <p:nvSpPr>
          <p:cNvPr id="8" name="Text 5"/>
          <p:cNvSpPr/>
          <p:nvPr/>
        </p:nvSpPr>
        <p:spPr>
          <a:xfrm>
            <a:off x="4957763" y="2281730"/>
            <a:ext cx="36147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D4AF37"/>
                </a:solidFill>
                <a:latin typeface="Lato" pitchFamily="34" charset="0"/>
                <a:ea typeface="Lato" pitchFamily="34" charset="-122"/>
                <a:cs typeface="Lato" pitchFamily="34" charset="-120"/>
              </a:rPr>
              <a:t>llama3</a:t>
            </a:r>
            <a:pPr algn="l" indent="0" marL="0">
              <a:lnSpc>
                <a:spcPts val="1400"/>
              </a:lnSpc>
              <a:buNone/>
            </a:pPr>
            <a:r>
              <a:rPr lang="en-US" sz="784" b="1" dirty="0">
                <a:solidFill>
                  <a:srgbClr val="0A192F"/>
                </a:solidFill>
                <a:latin typeface="Lato" pitchFamily="34" charset="0"/>
                <a:ea typeface="Lato" pitchFamily="34" charset="-122"/>
                <a:cs typeface="Lato" pitchFamily="34" charset="-120"/>
              </a:rPr>
              <a:t> AI Model</a:t>
            </a:r>
            <a:endParaRPr lang="en-US" sz="784" dirty="0"/>
          </a:p>
        </p:txBody>
      </p:sp>
      <p:sp>
        <p:nvSpPr>
          <p:cNvPr id="9" name="Text 6"/>
          <p:cNvSpPr/>
          <p:nvPr/>
        </p:nvSpPr>
        <p:spPr>
          <a:xfrm>
            <a:off x="4957763" y="2678906"/>
            <a:ext cx="3614738" cy="101798"/>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999999"/>
                </a:solidFill>
                <a:latin typeface="Lato" pitchFamily="34" charset="0"/>
                <a:ea typeface="Lato" pitchFamily="34" charset="-122"/>
                <a:cs typeface="Lato" pitchFamily="34" charset="-120"/>
              </a:rPr>
              <a:t>INTERNATIONAL INTEGRATION</a:t>
            </a:r>
            <a:endParaRPr lang="en-US" sz="621" dirty="0"/>
          </a:p>
        </p:txBody>
      </p:sp>
      <p:sp>
        <p:nvSpPr>
          <p:cNvPr id="10" name="Text 7"/>
          <p:cNvSpPr/>
          <p:nvPr/>
        </p:nvSpPr>
        <p:spPr>
          <a:xfrm>
            <a:off x="4957763" y="2852142"/>
            <a:ext cx="36147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D4AF37"/>
                </a:solidFill>
                <a:latin typeface="Lato" pitchFamily="34" charset="0"/>
                <a:ea typeface="Lato" pitchFamily="34" charset="-122"/>
                <a:cs typeface="Lato" pitchFamily="34" charset="-120"/>
              </a:rPr>
              <a:t>EPO</a:t>
            </a:r>
            <a:pPr algn="l" indent="0" marL="0">
              <a:lnSpc>
                <a:spcPts val="1400"/>
              </a:lnSpc>
              <a:buNone/>
            </a:pPr>
            <a:r>
              <a:rPr lang="en-US" sz="784" b="1" dirty="0">
                <a:solidFill>
                  <a:srgbClr val="0A192F"/>
                </a:solidFill>
                <a:latin typeface="Lato" pitchFamily="34" charset="0"/>
                <a:ea typeface="Lato" pitchFamily="34" charset="-122"/>
                <a:cs typeface="Lato" pitchFamily="34" charset="-120"/>
              </a:rPr>
              <a:t> Database Access</a:t>
            </a:r>
            <a:endParaRPr lang="en-US" sz="784" dirty="0"/>
          </a:p>
        </p:txBody>
      </p:sp>
      <p:sp>
        <p:nvSpPr>
          <p:cNvPr id="11" name="Text 8"/>
          <p:cNvSpPr/>
          <p:nvPr/>
        </p:nvSpPr>
        <p:spPr>
          <a:xfrm>
            <a:off x="4957763" y="3249318"/>
            <a:ext cx="3614738" cy="101798"/>
          </a:xfrm>
          <a:prstGeom prst="rect">
            <a:avLst/>
          </a:prstGeom>
          <a:noFill/>
          <a:ln/>
        </p:spPr>
        <p:txBody>
          <a:bodyPr wrap="none" lIns="0" tIns="0" rIns="0" bIns="0" rtlCol="0" anchor="t">
            <a:spAutoFit/>
          </a:bodyPr>
          <a:lstStyle/>
          <a:p>
            <a:pPr algn="l" indent="0" marL="0">
              <a:lnSpc>
                <a:spcPts val="800"/>
              </a:lnSpc>
              <a:buNone/>
            </a:pPr>
            <a:r>
              <a:rPr lang="en-US" sz="621" spc="2" kern="0" dirty="0">
                <a:solidFill>
                  <a:srgbClr val="999999"/>
                </a:solidFill>
                <a:latin typeface="Lato" pitchFamily="34" charset="0"/>
                <a:ea typeface="Lato" pitchFamily="34" charset="-122"/>
                <a:cs typeface="Lato" pitchFamily="34" charset="-120"/>
              </a:rPr>
              <a:t>OUTPUT</a:t>
            </a:r>
            <a:endParaRPr lang="en-US" sz="621" dirty="0"/>
          </a:p>
        </p:txBody>
      </p:sp>
      <p:sp>
        <p:nvSpPr>
          <p:cNvPr id="12" name="Text 9"/>
          <p:cNvSpPr/>
          <p:nvPr/>
        </p:nvSpPr>
        <p:spPr>
          <a:xfrm>
            <a:off x="4957763" y="3422554"/>
            <a:ext cx="3614738"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0A192F"/>
                </a:solidFill>
                <a:latin typeface="Lato" pitchFamily="34" charset="0"/>
                <a:ea typeface="Lato" pitchFamily="34" charset="-122"/>
                <a:cs typeface="Lato" pitchFamily="34" charset="-120"/>
              </a:rPr>
              <a:t>Documented Patents Ready for Filing</a:t>
            </a: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Challenges in Innovation</a:t>
            </a:r>
            <a:endParaRPr lang="en-US" sz="2862" dirty="0"/>
          </a:p>
        </p:txBody>
      </p:sp>
      <p:sp>
        <p:nvSpPr>
          <p:cNvPr id="4" name="Text 1"/>
          <p:cNvSpPr/>
          <p:nvPr/>
        </p:nvSpPr>
        <p:spPr>
          <a:xfrm>
            <a:off x="571500" y="1768078"/>
            <a:ext cx="428625" cy="45720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D4AF37"/>
                </a:solidFill>
                <a:latin typeface="Playfair Display" pitchFamily="34" charset="0"/>
                <a:ea typeface="Playfair Display" pitchFamily="34" charset="-122"/>
                <a:cs typeface="Playfair Display" pitchFamily="34" charset="-120"/>
              </a:rPr>
              <a:t>1</a:t>
            </a:r>
            <a:endParaRPr lang="en-US" sz="2436" dirty="0"/>
          </a:p>
        </p:txBody>
      </p:sp>
      <p:sp>
        <p:nvSpPr>
          <p:cNvPr id="5" name="Text 2"/>
          <p:cNvSpPr/>
          <p:nvPr/>
        </p:nvSpPr>
        <p:spPr>
          <a:xfrm>
            <a:off x="1143000" y="1893819"/>
            <a:ext cx="2202061"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latin typeface="Lato" pitchFamily="34" charset="0"/>
                <a:ea typeface="Lato" pitchFamily="34" charset="-122"/>
                <a:cs typeface="Lato" pitchFamily="34" charset="-120"/>
              </a:rPr>
              <a:t>Difficulty generating novel patent ideas</a:t>
            </a:r>
            <a:endParaRPr lang="en-US" sz="942" dirty="0"/>
          </a:p>
        </p:txBody>
      </p:sp>
      <p:sp>
        <p:nvSpPr>
          <p:cNvPr id="6" name="Text 3"/>
          <p:cNvSpPr/>
          <p:nvPr/>
        </p:nvSpPr>
        <p:spPr>
          <a:xfrm>
            <a:off x="4714875" y="1768078"/>
            <a:ext cx="428625" cy="45720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D4AF37"/>
                </a:solidFill>
                <a:latin typeface="Playfair Display" pitchFamily="34" charset="0"/>
                <a:ea typeface="Playfair Display" pitchFamily="34" charset="-122"/>
                <a:cs typeface="Playfair Display" pitchFamily="34" charset="-120"/>
              </a:rPr>
              <a:t>2</a:t>
            </a:r>
            <a:endParaRPr lang="en-US" sz="2436" dirty="0"/>
          </a:p>
        </p:txBody>
      </p:sp>
      <p:sp>
        <p:nvSpPr>
          <p:cNvPr id="7" name="Text 4"/>
          <p:cNvSpPr/>
          <p:nvPr/>
        </p:nvSpPr>
        <p:spPr>
          <a:xfrm>
            <a:off x="5286375" y="1893819"/>
            <a:ext cx="2903934"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latin typeface="Lato" pitchFamily="34" charset="0"/>
                <a:ea typeface="Lato" pitchFamily="34" charset="-122"/>
                <a:cs typeface="Lato" pitchFamily="34" charset="-120"/>
              </a:rPr>
              <a:t>Time-consuming research and development process</a:t>
            </a:r>
            <a:endParaRPr lang="en-US" sz="942" dirty="0"/>
          </a:p>
        </p:txBody>
      </p:sp>
      <p:sp>
        <p:nvSpPr>
          <p:cNvPr id="8" name="Text 5"/>
          <p:cNvSpPr/>
          <p:nvPr/>
        </p:nvSpPr>
        <p:spPr>
          <a:xfrm>
            <a:off x="571500" y="2511028"/>
            <a:ext cx="428625" cy="45720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D4AF37"/>
                </a:solidFill>
                <a:latin typeface="Playfair Display" pitchFamily="34" charset="0"/>
                <a:ea typeface="Playfair Display" pitchFamily="34" charset="-122"/>
                <a:cs typeface="Playfair Display" pitchFamily="34" charset="-120"/>
              </a:rPr>
              <a:t>3</a:t>
            </a:r>
            <a:endParaRPr lang="en-US" sz="2436" dirty="0"/>
          </a:p>
        </p:txBody>
      </p:sp>
      <p:sp>
        <p:nvSpPr>
          <p:cNvPr id="9" name="Text 6"/>
          <p:cNvSpPr/>
          <p:nvPr/>
        </p:nvSpPr>
        <p:spPr>
          <a:xfrm>
            <a:off x="1143000" y="2636769"/>
            <a:ext cx="2146697"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latin typeface="Lato" pitchFamily="34" charset="0"/>
                <a:ea typeface="Lato" pitchFamily="34" charset="-122"/>
                <a:cs typeface="Lato" pitchFamily="34" charset="-120"/>
              </a:rPr>
              <a:t>No rapid method to verify idea novelty</a:t>
            </a:r>
            <a:endParaRPr lang="en-US" sz="942" dirty="0"/>
          </a:p>
        </p:txBody>
      </p:sp>
      <p:sp>
        <p:nvSpPr>
          <p:cNvPr id="10" name="Text 7"/>
          <p:cNvSpPr/>
          <p:nvPr/>
        </p:nvSpPr>
        <p:spPr>
          <a:xfrm>
            <a:off x="4714875" y="2511028"/>
            <a:ext cx="428625" cy="45720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D4AF37"/>
                </a:solidFill>
                <a:latin typeface="Playfair Display" pitchFamily="34" charset="0"/>
                <a:ea typeface="Playfair Display" pitchFamily="34" charset="-122"/>
                <a:cs typeface="Playfair Display" pitchFamily="34" charset="-120"/>
              </a:rPr>
              <a:t>4</a:t>
            </a:r>
            <a:endParaRPr lang="en-US" sz="2436" dirty="0"/>
          </a:p>
        </p:txBody>
      </p:sp>
      <p:sp>
        <p:nvSpPr>
          <p:cNvPr id="11" name="Text 8"/>
          <p:cNvSpPr/>
          <p:nvPr/>
        </p:nvSpPr>
        <p:spPr>
          <a:xfrm>
            <a:off x="5286375" y="2636769"/>
            <a:ext cx="2912864"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333333"/>
                </a:solidFill>
                <a:latin typeface="Lato" pitchFamily="34" charset="0"/>
                <a:ea typeface="Lato" pitchFamily="34" charset="-122"/>
                <a:cs typeface="Lato" pitchFamily="34" charset="-120"/>
              </a:rPr>
              <a:t>Difficulty combining knowledge from different fields</a:t>
            </a:r>
            <a:endParaRPr lang="en-US" sz="942"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The Solution - How It Works</a:t>
            </a:r>
            <a:endParaRPr lang="en-US" sz="2862" dirty="0"/>
          </a:p>
        </p:txBody>
      </p:sp>
      <p:sp>
        <p:nvSpPr>
          <p:cNvPr id="4" name="Text 1"/>
          <p:cNvSpPr/>
          <p:nvPr/>
        </p:nvSpPr>
        <p:spPr>
          <a:xfrm>
            <a:off x="571500" y="1843980"/>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1</a:t>
            </a:r>
            <a:endParaRPr lang="en-US" sz="1602" dirty="0"/>
          </a:p>
        </p:txBody>
      </p:sp>
      <p:sp>
        <p:nvSpPr>
          <p:cNvPr id="5" name="Text 2"/>
          <p:cNvSpPr/>
          <p:nvPr/>
        </p:nvSpPr>
        <p:spPr>
          <a:xfrm>
            <a:off x="1071563" y="1843980"/>
            <a:ext cx="1871663"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Domain Input</a:t>
            </a:r>
            <a:endParaRPr lang="en-US" sz="784" dirty="0"/>
          </a:p>
        </p:txBody>
      </p:sp>
      <p:sp>
        <p:nvSpPr>
          <p:cNvPr id="6" name="Text 3"/>
          <p:cNvSpPr/>
          <p:nvPr/>
        </p:nvSpPr>
        <p:spPr>
          <a:xfrm>
            <a:off x="1071563" y="2038648"/>
            <a:ext cx="1871663"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Select a scientific field like quantum biology</a:t>
            </a:r>
            <a:endParaRPr lang="en-US" sz="727" dirty="0"/>
          </a:p>
        </p:txBody>
      </p:sp>
      <p:sp>
        <p:nvSpPr>
          <p:cNvPr id="7" name="Text 4"/>
          <p:cNvSpPr/>
          <p:nvPr/>
        </p:nvSpPr>
        <p:spPr>
          <a:xfrm>
            <a:off x="571500" y="2367260"/>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2</a:t>
            </a:r>
            <a:endParaRPr lang="en-US" sz="1602" dirty="0"/>
          </a:p>
        </p:txBody>
      </p:sp>
      <p:sp>
        <p:nvSpPr>
          <p:cNvPr id="8" name="Text 5"/>
          <p:cNvSpPr/>
          <p:nvPr/>
        </p:nvSpPr>
        <p:spPr>
          <a:xfrm>
            <a:off x="1071563" y="2367260"/>
            <a:ext cx="1834158"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Idea Generation</a:t>
            </a:r>
            <a:endParaRPr lang="en-US" sz="784" dirty="0"/>
          </a:p>
        </p:txBody>
      </p:sp>
      <p:sp>
        <p:nvSpPr>
          <p:cNvPr id="9" name="Text 6"/>
          <p:cNvSpPr/>
          <p:nvPr/>
        </p:nvSpPr>
        <p:spPr>
          <a:xfrm>
            <a:off x="1071563" y="2561927"/>
            <a:ext cx="183415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Use llama3 AI to generate patent concepts</a:t>
            </a:r>
            <a:endParaRPr lang="en-US" sz="727" dirty="0"/>
          </a:p>
        </p:txBody>
      </p:sp>
      <p:sp>
        <p:nvSpPr>
          <p:cNvPr id="10" name="Text 7"/>
          <p:cNvSpPr/>
          <p:nvPr/>
        </p:nvSpPr>
        <p:spPr>
          <a:xfrm>
            <a:off x="571500" y="2890540"/>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3</a:t>
            </a:r>
            <a:endParaRPr lang="en-US" sz="1602" dirty="0"/>
          </a:p>
        </p:txBody>
      </p:sp>
      <p:sp>
        <p:nvSpPr>
          <p:cNvPr id="11" name="Text 8"/>
          <p:cNvSpPr/>
          <p:nvPr/>
        </p:nvSpPr>
        <p:spPr>
          <a:xfrm>
            <a:off x="1071563" y="2890540"/>
            <a:ext cx="2343150"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Analysis</a:t>
            </a:r>
            <a:endParaRPr lang="en-US" sz="784" dirty="0"/>
          </a:p>
        </p:txBody>
      </p:sp>
      <p:sp>
        <p:nvSpPr>
          <p:cNvPr id="12" name="Text 9"/>
          <p:cNvSpPr/>
          <p:nvPr/>
        </p:nvSpPr>
        <p:spPr>
          <a:xfrm>
            <a:off x="1071563" y="3085207"/>
            <a:ext cx="2343150"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Evaluate each idea for mechanism, novelty, and impact</a:t>
            </a:r>
            <a:endParaRPr lang="en-US" sz="727" dirty="0"/>
          </a:p>
        </p:txBody>
      </p:sp>
      <p:sp>
        <p:nvSpPr>
          <p:cNvPr id="13" name="Text 10"/>
          <p:cNvSpPr/>
          <p:nvPr/>
        </p:nvSpPr>
        <p:spPr>
          <a:xfrm>
            <a:off x="571500" y="3413820"/>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4</a:t>
            </a:r>
            <a:endParaRPr lang="en-US" sz="1602" dirty="0"/>
          </a:p>
        </p:txBody>
      </p:sp>
      <p:sp>
        <p:nvSpPr>
          <p:cNvPr id="14" name="Text 11"/>
          <p:cNvSpPr/>
          <p:nvPr/>
        </p:nvSpPr>
        <p:spPr>
          <a:xfrm>
            <a:off x="1071563" y="3413820"/>
            <a:ext cx="2330648"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Validation</a:t>
            </a:r>
            <a:endParaRPr lang="en-US" sz="784" dirty="0"/>
          </a:p>
        </p:txBody>
      </p:sp>
      <p:sp>
        <p:nvSpPr>
          <p:cNvPr id="15" name="Text 12"/>
          <p:cNvSpPr/>
          <p:nvPr/>
        </p:nvSpPr>
        <p:spPr>
          <a:xfrm>
            <a:off x="1071563" y="3608487"/>
            <a:ext cx="233064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Search EPO database to verify no similar patents exist</a:t>
            </a:r>
            <a:endParaRPr lang="en-US" sz="727" dirty="0"/>
          </a:p>
        </p:txBody>
      </p:sp>
      <p:sp>
        <p:nvSpPr>
          <p:cNvPr id="16" name="Text 13"/>
          <p:cNvSpPr/>
          <p:nvPr/>
        </p:nvSpPr>
        <p:spPr>
          <a:xfrm>
            <a:off x="571500" y="3937099"/>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5</a:t>
            </a:r>
            <a:endParaRPr lang="en-US" sz="1602" dirty="0"/>
          </a:p>
        </p:txBody>
      </p:sp>
      <p:sp>
        <p:nvSpPr>
          <p:cNvPr id="17" name="Text 14"/>
          <p:cNvSpPr/>
          <p:nvPr/>
        </p:nvSpPr>
        <p:spPr>
          <a:xfrm>
            <a:off x="1071563" y="3937099"/>
            <a:ext cx="2368153"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Export</a:t>
            </a:r>
            <a:endParaRPr lang="en-US" sz="784" dirty="0"/>
          </a:p>
        </p:txBody>
      </p:sp>
      <p:sp>
        <p:nvSpPr>
          <p:cNvPr id="18" name="Text 15"/>
          <p:cNvSpPr/>
          <p:nvPr/>
        </p:nvSpPr>
        <p:spPr>
          <a:xfrm>
            <a:off x="1071563" y="4131766"/>
            <a:ext cx="2368153"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Save results in multiple formats (JSON and Markdown)</a:t>
            </a:r>
            <a:endParaRPr lang="en-US" sz="727" dirty="0"/>
          </a:p>
        </p:txBody>
      </p:sp>
      <p:pic>
        <p:nvPicPr>
          <p:cNvPr id="19" name="Image 1" descr="preencoded.png">    </p:cNvPr>
          <p:cNvPicPr>
            <a:picLocks noChangeAspect="1"/>
          </p:cNvPicPr>
          <p:nvPr/>
        </p:nvPicPr>
        <p:blipFill>
          <a:blip r:embed="rId2"/>
          <a:stretch>
            <a:fillRect/>
          </a:stretch>
        </p:blipFill>
        <p:spPr>
          <a:xfrm>
            <a:off x="5229225" y="1648420"/>
            <a:ext cx="2828925" cy="282892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Core Features</a:t>
            </a:r>
            <a:endParaRPr lang="en-US" sz="2862" dirty="0"/>
          </a:p>
        </p:txBody>
      </p:sp>
      <p:sp>
        <p:nvSpPr>
          <p:cNvPr id="4" name="Text 1"/>
          <p:cNvSpPr/>
          <p:nvPr/>
        </p:nvSpPr>
        <p:spPr>
          <a:xfrm>
            <a:off x="571500" y="1482328"/>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①</a:t>
            </a:r>
            <a:endParaRPr lang="en-US" sz="1602" dirty="0"/>
          </a:p>
        </p:txBody>
      </p:sp>
      <p:sp>
        <p:nvSpPr>
          <p:cNvPr id="5" name="Text 2"/>
          <p:cNvSpPr/>
          <p:nvPr/>
        </p:nvSpPr>
        <p:spPr>
          <a:xfrm>
            <a:off x="1057275" y="1482328"/>
            <a:ext cx="3371850" cy="153591"/>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D4AF37"/>
                </a:solidFill>
                <a:latin typeface="Lato" pitchFamily="34" charset="0"/>
                <a:ea typeface="Lato" pitchFamily="34" charset="-122"/>
                <a:cs typeface="Lato" pitchFamily="34" charset="-120"/>
              </a:rPr>
              <a:t>AI-Powered Generation</a:t>
            </a:r>
            <a:endParaRPr lang="en-US" sz="885" dirty="0"/>
          </a:p>
        </p:txBody>
      </p:sp>
      <p:sp>
        <p:nvSpPr>
          <p:cNvPr id="6" name="Text 3"/>
          <p:cNvSpPr/>
          <p:nvPr/>
        </p:nvSpPr>
        <p:spPr>
          <a:xfrm>
            <a:off x="1057275" y="1678781"/>
            <a:ext cx="3371850"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Uses advanced llama3 model to generate unique and unprecedented patents</a:t>
            </a:r>
            <a:endParaRPr lang="en-US" sz="834" dirty="0"/>
          </a:p>
        </p:txBody>
      </p:sp>
      <p:sp>
        <p:nvSpPr>
          <p:cNvPr id="7" name="Text 4"/>
          <p:cNvSpPr/>
          <p:nvPr/>
        </p:nvSpPr>
        <p:spPr>
          <a:xfrm>
            <a:off x="4714875" y="1482328"/>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②</a:t>
            </a:r>
            <a:endParaRPr lang="en-US" sz="1602" dirty="0"/>
          </a:p>
        </p:txBody>
      </p:sp>
      <p:sp>
        <p:nvSpPr>
          <p:cNvPr id="8" name="Text 5"/>
          <p:cNvSpPr/>
          <p:nvPr/>
        </p:nvSpPr>
        <p:spPr>
          <a:xfrm>
            <a:off x="5200650" y="1482328"/>
            <a:ext cx="3371850" cy="153591"/>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D4AF37"/>
                </a:solidFill>
                <a:latin typeface="Lato" pitchFamily="34" charset="0"/>
                <a:ea typeface="Lato" pitchFamily="34" charset="-122"/>
                <a:cs typeface="Lato" pitchFamily="34" charset="-120"/>
              </a:rPr>
              <a:t>Cross-Domain Synthesis</a:t>
            </a:r>
            <a:endParaRPr lang="en-US" sz="885" dirty="0"/>
          </a:p>
        </p:txBody>
      </p:sp>
      <p:sp>
        <p:nvSpPr>
          <p:cNvPr id="9" name="Text 6"/>
          <p:cNvSpPr/>
          <p:nvPr/>
        </p:nvSpPr>
        <p:spPr>
          <a:xfrm>
            <a:off x="5200650" y="1678781"/>
            <a:ext cx="3371850"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Combines 3 or more different scientific fields to create novel concepts</a:t>
            </a:r>
            <a:endParaRPr lang="en-US" sz="834" dirty="0"/>
          </a:p>
        </p:txBody>
      </p:sp>
      <p:sp>
        <p:nvSpPr>
          <p:cNvPr id="10" name="Text 7"/>
          <p:cNvSpPr/>
          <p:nvPr/>
        </p:nvSpPr>
        <p:spPr>
          <a:xfrm>
            <a:off x="571500" y="2287395"/>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③</a:t>
            </a:r>
            <a:endParaRPr lang="en-US" sz="1602" dirty="0"/>
          </a:p>
        </p:txBody>
      </p:sp>
      <p:sp>
        <p:nvSpPr>
          <p:cNvPr id="11" name="Text 8"/>
          <p:cNvSpPr/>
          <p:nvPr/>
        </p:nvSpPr>
        <p:spPr>
          <a:xfrm>
            <a:off x="1057275" y="2287395"/>
            <a:ext cx="3371850" cy="153591"/>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D4AF37"/>
                </a:solidFill>
                <a:latin typeface="Lato" pitchFamily="34" charset="0"/>
                <a:ea typeface="Lato" pitchFamily="34" charset="-122"/>
                <a:cs typeface="Lato" pitchFamily="34" charset="-120"/>
              </a:rPr>
              <a:t>EPO Integration</a:t>
            </a:r>
            <a:endParaRPr lang="en-US" sz="885" dirty="0"/>
          </a:p>
        </p:txBody>
      </p:sp>
      <p:sp>
        <p:nvSpPr>
          <p:cNvPr id="12" name="Text 9"/>
          <p:cNvSpPr/>
          <p:nvPr/>
        </p:nvSpPr>
        <p:spPr>
          <a:xfrm>
            <a:off x="1057275" y="2483848"/>
            <a:ext cx="3371850"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Instant verification of patents against European Patent Office database</a:t>
            </a:r>
            <a:endParaRPr lang="en-US" sz="834" dirty="0"/>
          </a:p>
        </p:txBody>
      </p:sp>
      <p:sp>
        <p:nvSpPr>
          <p:cNvPr id="13" name="Text 10"/>
          <p:cNvSpPr/>
          <p:nvPr/>
        </p:nvSpPr>
        <p:spPr>
          <a:xfrm>
            <a:off x="4714875" y="2287395"/>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④</a:t>
            </a:r>
            <a:endParaRPr lang="en-US" sz="1602" dirty="0"/>
          </a:p>
        </p:txBody>
      </p:sp>
      <p:sp>
        <p:nvSpPr>
          <p:cNvPr id="14" name="Text 11"/>
          <p:cNvSpPr/>
          <p:nvPr/>
        </p:nvSpPr>
        <p:spPr>
          <a:xfrm>
            <a:off x="5200650" y="2287395"/>
            <a:ext cx="3371850" cy="153591"/>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D4AF37"/>
                </a:solidFill>
                <a:latin typeface="Lato" pitchFamily="34" charset="0"/>
                <a:ea typeface="Lato" pitchFamily="34" charset="-122"/>
                <a:cs typeface="Lato" pitchFamily="34" charset="-120"/>
              </a:rPr>
              <a:t>Rich Interface</a:t>
            </a:r>
            <a:endParaRPr lang="en-US" sz="885" dirty="0"/>
          </a:p>
        </p:txBody>
      </p:sp>
      <p:sp>
        <p:nvSpPr>
          <p:cNvPr id="15" name="Text 12"/>
          <p:cNvSpPr/>
          <p:nvPr/>
        </p:nvSpPr>
        <p:spPr>
          <a:xfrm>
            <a:off x="5200650" y="2483848"/>
            <a:ext cx="3371850"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Beautiful and user-friendly interface with professional information formatting</a:t>
            </a:r>
            <a:endParaRPr lang="en-US" sz="834" dirty="0"/>
          </a:p>
        </p:txBody>
      </p:sp>
      <p:sp>
        <p:nvSpPr>
          <p:cNvPr id="16" name="Text 13"/>
          <p:cNvSpPr/>
          <p:nvPr/>
        </p:nvSpPr>
        <p:spPr>
          <a:xfrm>
            <a:off x="571500" y="3092462"/>
            <a:ext cx="357188" cy="303609"/>
          </a:xfrm>
          <a:prstGeom prst="rect">
            <a:avLst/>
          </a:prstGeom>
          <a:noFill/>
          <a:ln/>
        </p:spPr>
        <p:txBody>
          <a:bodyPr wrap="none" lIns="0" tIns="0" rIns="0" bIns="0" rtlCol="0" anchor="t">
            <a:spAutoFit/>
          </a:bodyPr>
          <a:lstStyle/>
          <a:p>
            <a:pPr algn="ctr" indent="0" marL="0">
              <a:lnSpc>
                <a:spcPts val="2200"/>
              </a:lnSpc>
              <a:buNone/>
            </a:pPr>
            <a:r>
              <a:rPr lang="en-US" sz="1602" b="1" dirty="0">
                <a:solidFill>
                  <a:srgbClr val="D4AF37"/>
                </a:solidFill>
                <a:latin typeface="Playfair Display" pitchFamily="34" charset="0"/>
                <a:ea typeface="Playfair Display" pitchFamily="34" charset="-122"/>
                <a:cs typeface="Playfair Display" pitchFamily="34" charset="-120"/>
              </a:rPr>
              <a:t>⑤</a:t>
            </a:r>
            <a:endParaRPr lang="en-US" sz="1602" dirty="0"/>
          </a:p>
        </p:txBody>
      </p:sp>
      <p:sp>
        <p:nvSpPr>
          <p:cNvPr id="17" name="Text 14"/>
          <p:cNvSpPr/>
          <p:nvPr/>
        </p:nvSpPr>
        <p:spPr>
          <a:xfrm>
            <a:off x="1057275" y="3092462"/>
            <a:ext cx="3371850" cy="153591"/>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D4AF37"/>
                </a:solidFill>
                <a:latin typeface="Lato" pitchFamily="34" charset="0"/>
                <a:ea typeface="Lato" pitchFamily="34" charset="-122"/>
                <a:cs typeface="Lato" pitchFamily="34" charset="-120"/>
              </a:rPr>
              <a:t>Auto-Export</a:t>
            </a:r>
            <a:endParaRPr lang="en-US" sz="885" dirty="0"/>
          </a:p>
        </p:txBody>
      </p:sp>
      <p:sp>
        <p:nvSpPr>
          <p:cNvPr id="18" name="Text 15"/>
          <p:cNvSpPr/>
          <p:nvPr/>
        </p:nvSpPr>
        <p:spPr>
          <a:xfrm>
            <a:off x="1057275" y="3288916"/>
            <a:ext cx="3371850" cy="365727"/>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Save results in multiple formats (JSON and Markdown) ready for sharing</a:t>
            </a:r>
            <a:endParaRPr lang="en-US" sz="8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Innovation Domains</a:t>
            </a:r>
            <a:endParaRPr lang="en-US" sz="2862" dirty="0"/>
          </a:p>
        </p:txBody>
      </p:sp>
      <p:sp>
        <p:nvSpPr>
          <p:cNvPr id="4" name="Text 1"/>
          <p:cNvSpPr/>
          <p:nvPr/>
        </p:nvSpPr>
        <p:spPr>
          <a:xfrm>
            <a:off x="714375" y="1496616"/>
            <a:ext cx="876895"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Quantum Biology</a:t>
            </a:r>
            <a:endParaRPr lang="en-US" sz="784" dirty="0"/>
          </a:p>
        </p:txBody>
      </p:sp>
      <p:sp>
        <p:nvSpPr>
          <p:cNvPr id="5" name="Text 2"/>
          <p:cNvSpPr/>
          <p:nvPr/>
        </p:nvSpPr>
        <p:spPr>
          <a:xfrm>
            <a:off x="2714625" y="1496616"/>
            <a:ext cx="1587698"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Morphological Neural Materials</a:t>
            </a:r>
            <a:endParaRPr lang="en-US" sz="784" dirty="0"/>
          </a:p>
        </p:txBody>
      </p:sp>
      <p:sp>
        <p:nvSpPr>
          <p:cNvPr id="6" name="Text 3"/>
          <p:cNvSpPr/>
          <p:nvPr/>
        </p:nvSpPr>
        <p:spPr>
          <a:xfrm>
            <a:off x="714375" y="1955602"/>
            <a:ext cx="1032272"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Photonic Computing</a:t>
            </a:r>
            <a:endParaRPr lang="en-US" sz="784" dirty="0"/>
          </a:p>
        </p:txBody>
      </p:sp>
      <p:sp>
        <p:nvSpPr>
          <p:cNvPr id="7" name="Text 4"/>
          <p:cNvSpPr/>
          <p:nvPr/>
        </p:nvSpPr>
        <p:spPr>
          <a:xfrm>
            <a:off x="2714625" y="1955602"/>
            <a:ext cx="925116"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DNA Data Storage</a:t>
            </a:r>
            <a:endParaRPr lang="en-US" sz="784" dirty="0"/>
          </a:p>
        </p:txBody>
      </p:sp>
      <p:sp>
        <p:nvSpPr>
          <p:cNvPr id="8" name="Text 5"/>
          <p:cNvSpPr/>
          <p:nvPr/>
        </p:nvSpPr>
        <p:spPr>
          <a:xfrm>
            <a:off x="714375" y="2414588"/>
            <a:ext cx="975122"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Cryogenic Robotics</a:t>
            </a:r>
            <a:endParaRPr lang="en-US" sz="784" dirty="0"/>
          </a:p>
        </p:txBody>
      </p:sp>
      <p:sp>
        <p:nvSpPr>
          <p:cNvPr id="9" name="Text 6"/>
          <p:cNvSpPr/>
          <p:nvPr/>
        </p:nvSpPr>
        <p:spPr>
          <a:xfrm>
            <a:off x="2714625" y="2414588"/>
            <a:ext cx="1469827"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Mycelial Network Computing</a:t>
            </a:r>
            <a:endParaRPr lang="en-US" sz="784" dirty="0"/>
          </a:p>
        </p:txBody>
      </p:sp>
      <p:sp>
        <p:nvSpPr>
          <p:cNvPr id="10" name="Text 7"/>
          <p:cNvSpPr/>
          <p:nvPr/>
        </p:nvSpPr>
        <p:spPr>
          <a:xfrm>
            <a:off x="714375" y="2942332"/>
            <a:ext cx="937617"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Optical Biosensors</a:t>
            </a:r>
            <a:endParaRPr lang="en-US" sz="784" dirty="0"/>
          </a:p>
        </p:txBody>
      </p:sp>
      <p:sp>
        <p:nvSpPr>
          <p:cNvPr id="11" name="Text 8"/>
          <p:cNvSpPr/>
          <p:nvPr/>
        </p:nvSpPr>
        <p:spPr>
          <a:xfrm>
            <a:off x="2714625" y="2873573"/>
            <a:ext cx="1643063" cy="275034"/>
          </a:xfrm>
          <a:prstGeom prst="rect">
            <a:avLst/>
          </a:prstGeom>
          <a:noFill/>
          <a:ln/>
        </p:spPr>
        <p:txBody>
          <a:bodyPr wrap="squar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Quantum Entanglement Communications</a:t>
            </a:r>
            <a:endParaRPr lang="en-US" sz="784" dirty="0"/>
          </a:p>
        </p:txBody>
      </p:sp>
      <p:sp>
        <p:nvSpPr>
          <p:cNvPr id="12" name="Text 9"/>
          <p:cNvSpPr/>
          <p:nvPr/>
        </p:nvSpPr>
        <p:spPr>
          <a:xfrm>
            <a:off x="714375" y="3470077"/>
            <a:ext cx="1430536"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Transformative Architecture</a:t>
            </a:r>
            <a:endParaRPr lang="en-US" sz="784" dirty="0"/>
          </a:p>
        </p:txBody>
      </p:sp>
      <p:sp>
        <p:nvSpPr>
          <p:cNvPr id="13" name="Text 10"/>
          <p:cNvSpPr/>
          <p:nvPr/>
        </p:nvSpPr>
        <p:spPr>
          <a:xfrm>
            <a:off x="2714625" y="3470077"/>
            <a:ext cx="1212652"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333333"/>
                </a:solidFill>
                <a:latin typeface="Lato" pitchFamily="34" charset="0"/>
                <a:ea typeface="Lato" pitchFamily="34" charset="-122"/>
                <a:cs typeface="Lato" pitchFamily="34" charset="-120"/>
              </a:rPr>
              <a:t>Electrochemical Sensing</a:t>
            </a:r>
            <a:endParaRPr lang="en-US" sz="784" dirty="0"/>
          </a:p>
        </p:txBody>
      </p:sp>
      <p:pic>
        <p:nvPicPr>
          <p:cNvPr id="14" name="Image 1" descr="preencoded.png">    </p:cNvPr>
          <p:cNvPicPr>
            <a:picLocks noChangeAspect="1"/>
          </p:cNvPicPr>
          <p:nvPr/>
        </p:nvPicPr>
        <p:blipFill>
          <a:blip r:embed="rId2"/>
          <a:stretch>
            <a:fillRect/>
          </a:stretch>
        </p:blipFill>
        <p:spPr>
          <a:xfrm>
            <a:off x="5322094" y="1410891"/>
            <a:ext cx="2714625" cy="27146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571500"/>
            <a:ext cx="2143125" cy="960109"/>
          </a:xfrm>
          <a:prstGeom prst="rect">
            <a:avLst/>
          </a:prstGeom>
          <a:noFill/>
          <a:ln/>
        </p:spPr>
        <p:txBody>
          <a:bodyPr wrap="squar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Technology Stack</a:t>
            </a:r>
            <a:endParaRPr lang="en-US" sz="2862" dirty="0"/>
          </a:p>
        </p:txBody>
      </p:sp>
      <p:sp>
        <p:nvSpPr>
          <p:cNvPr id="4" name="Shape 1"/>
          <p:cNvSpPr/>
          <p:nvPr/>
        </p:nvSpPr>
        <p:spPr>
          <a:xfrm>
            <a:off x="3286125" y="571500"/>
            <a:ext cx="285750" cy="285750"/>
          </a:xfrm>
          <a:prstGeom prst="rect">
            <a:avLst/>
          </a:prstGeom>
          <a:solidFill>
            <a:srgbClr val="D4AF37"/>
          </a:solidFill>
          <a:ln/>
        </p:spPr>
      </p:sp>
      <p:sp>
        <p:nvSpPr>
          <p:cNvPr id="5" name="Text 2"/>
          <p:cNvSpPr/>
          <p:nvPr/>
        </p:nvSpPr>
        <p:spPr>
          <a:xfrm>
            <a:off x="3286125" y="571500"/>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A192F"/>
                </a:solidFill>
                <a:latin typeface="Times New Roman" pitchFamily="34" charset="0"/>
                <a:ea typeface="Times New Roman" pitchFamily="34" charset="-122"/>
                <a:cs typeface="Times New Roman" pitchFamily="34" charset="-120"/>
              </a:rPr>
              <a:t>①</a:t>
            </a:r>
            <a:endParaRPr lang="en-US" sz="885" dirty="0"/>
          </a:p>
        </p:txBody>
      </p:sp>
      <p:sp>
        <p:nvSpPr>
          <p:cNvPr id="6" name="Text 3"/>
          <p:cNvSpPr/>
          <p:nvPr/>
        </p:nvSpPr>
        <p:spPr>
          <a:xfrm>
            <a:off x="3679031" y="571500"/>
            <a:ext cx="2175272"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Programming Language</a:t>
            </a:r>
            <a:endParaRPr lang="en-US" sz="885" dirty="0"/>
          </a:p>
        </p:txBody>
      </p:sp>
      <p:sp>
        <p:nvSpPr>
          <p:cNvPr id="7" name="Text 4"/>
          <p:cNvSpPr/>
          <p:nvPr/>
        </p:nvSpPr>
        <p:spPr>
          <a:xfrm>
            <a:off x="3679031" y="778669"/>
            <a:ext cx="2175272"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Python 3.11 - Powerful and user-friendly language</a:t>
            </a:r>
            <a:endParaRPr lang="en-US" sz="727" dirty="0"/>
          </a:p>
        </p:txBody>
      </p:sp>
      <p:sp>
        <p:nvSpPr>
          <p:cNvPr id="8" name="Shape 5"/>
          <p:cNvSpPr/>
          <p:nvPr/>
        </p:nvSpPr>
        <p:spPr>
          <a:xfrm>
            <a:off x="3286125" y="1107281"/>
            <a:ext cx="285750" cy="285750"/>
          </a:xfrm>
          <a:prstGeom prst="rect">
            <a:avLst/>
          </a:prstGeom>
          <a:solidFill>
            <a:srgbClr val="D4AF37"/>
          </a:solidFill>
          <a:ln/>
        </p:spPr>
      </p:sp>
      <p:sp>
        <p:nvSpPr>
          <p:cNvPr id="9" name="Text 6"/>
          <p:cNvSpPr/>
          <p:nvPr/>
        </p:nvSpPr>
        <p:spPr>
          <a:xfrm>
            <a:off x="3286125" y="1107281"/>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A192F"/>
                </a:solidFill>
                <a:latin typeface="Times New Roman" pitchFamily="34" charset="0"/>
                <a:ea typeface="Times New Roman" pitchFamily="34" charset="-122"/>
                <a:cs typeface="Times New Roman" pitchFamily="34" charset="-120"/>
              </a:rPr>
              <a:t>②</a:t>
            </a:r>
            <a:endParaRPr lang="en-US" sz="885" dirty="0"/>
          </a:p>
        </p:txBody>
      </p:sp>
      <p:sp>
        <p:nvSpPr>
          <p:cNvPr id="10" name="Text 7"/>
          <p:cNvSpPr/>
          <p:nvPr/>
        </p:nvSpPr>
        <p:spPr>
          <a:xfrm>
            <a:off x="3679031" y="1107281"/>
            <a:ext cx="2182416"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AI Model</a:t>
            </a:r>
            <a:endParaRPr lang="en-US" sz="885" dirty="0"/>
          </a:p>
        </p:txBody>
      </p:sp>
      <p:sp>
        <p:nvSpPr>
          <p:cNvPr id="11" name="Text 8"/>
          <p:cNvSpPr/>
          <p:nvPr/>
        </p:nvSpPr>
        <p:spPr>
          <a:xfrm>
            <a:off x="3679031" y="1314450"/>
            <a:ext cx="2182416"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Ollama (llama3 4.7GB) - Advanced language model</a:t>
            </a:r>
            <a:endParaRPr lang="en-US" sz="727" dirty="0"/>
          </a:p>
        </p:txBody>
      </p:sp>
      <p:sp>
        <p:nvSpPr>
          <p:cNvPr id="12" name="Shape 9"/>
          <p:cNvSpPr/>
          <p:nvPr/>
        </p:nvSpPr>
        <p:spPr>
          <a:xfrm>
            <a:off x="3286125" y="1643063"/>
            <a:ext cx="285750" cy="285750"/>
          </a:xfrm>
          <a:prstGeom prst="rect">
            <a:avLst/>
          </a:prstGeom>
          <a:solidFill>
            <a:srgbClr val="D4AF37"/>
          </a:solidFill>
          <a:ln/>
        </p:spPr>
      </p:sp>
      <p:sp>
        <p:nvSpPr>
          <p:cNvPr id="13" name="Text 10"/>
          <p:cNvSpPr/>
          <p:nvPr/>
        </p:nvSpPr>
        <p:spPr>
          <a:xfrm>
            <a:off x="3286125" y="1643063"/>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A192F"/>
                </a:solidFill>
                <a:latin typeface="Times New Roman" pitchFamily="34" charset="0"/>
                <a:ea typeface="Times New Roman" pitchFamily="34" charset="-122"/>
                <a:cs typeface="Times New Roman" pitchFamily="34" charset="-120"/>
              </a:rPr>
              <a:t>③</a:t>
            </a:r>
            <a:endParaRPr lang="en-US" sz="885" dirty="0"/>
          </a:p>
        </p:txBody>
      </p:sp>
      <p:sp>
        <p:nvSpPr>
          <p:cNvPr id="14" name="Text 11"/>
          <p:cNvSpPr/>
          <p:nvPr/>
        </p:nvSpPr>
        <p:spPr>
          <a:xfrm>
            <a:off x="3679031" y="1643063"/>
            <a:ext cx="2214563"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International Integration</a:t>
            </a:r>
            <a:endParaRPr lang="en-US" sz="885" dirty="0"/>
          </a:p>
        </p:txBody>
      </p:sp>
      <p:sp>
        <p:nvSpPr>
          <p:cNvPr id="15" name="Text 12"/>
          <p:cNvSpPr/>
          <p:nvPr/>
        </p:nvSpPr>
        <p:spPr>
          <a:xfrm>
            <a:off x="3679031" y="1850231"/>
            <a:ext cx="2214563"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EPO Open Patent Services API - Patent verification</a:t>
            </a:r>
            <a:endParaRPr lang="en-US" sz="727" dirty="0"/>
          </a:p>
        </p:txBody>
      </p:sp>
      <p:sp>
        <p:nvSpPr>
          <p:cNvPr id="16" name="Shape 13"/>
          <p:cNvSpPr/>
          <p:nvPr/>
        </p:nvSpPr>
        <p:spPr>
          <a:xfrm>
            <a:off x="3286125" y="2178844"/>
            <a:ext cx="285750" cy="285750"/>
          </a:xfrm>
          <a:prstGeom prst="rect">
            <a:avLst/>
          </a:prstGeom>
          <a:solidFill>
            <a:srgbClr val="D4AF37"/>
          </a:solidFill>
          <a:ln/>
        </p:spPr>
      </p:sp>
      <p:sp>
        <p:nvSpPr>
          <p:cNvPr id="17" name="Text 14"/>
          <p:cNvSpPr/>
          <p:nvPr/>
        </p:nvSpPr>
        <p:spPr>
          <a:xfrm>
            <a:off x="3286125" y="2178844"/>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A192F"/>
                </a:solidFill>
                <a:latin typeface="Times New Roman" pitchFamily="34" charset="0"/>
                <a:ea typeface="Times New Roman" pitchFamily="34" charset="-122"/>
                <a:cs typeface="Times New Roman" pitchFamily="34" charset="-120"/>
              </a:rPr>
              <a:t>④</a:t>
            </a:r>
            <a:endParaRPr lang="en-US" sz="885" dirty="0"/>
          </a:p>
        </p:txBody>
      </p:sp>
      <p:sp>
        <p:nvSpPr>
          <p:cNvPr id="18" name="Text 15"/>
          <p:cNvSpPr/>
          <p:nvPr/>
        </p:nvSpPr>
        <p:spPr>
          <a:xfrm>
            <a:off x="3679031" y="2178844"/>
            <a:ext cx="1882378"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User Interface</a:t>
            </a:r>
            <a:endParaRPr lang="en-US" sz="885" dirty="0"/>
          </a:p>
        </p:txBody>
      </p:sp>
      <p:sp>
        <p:nvSpPr>
          <p:cNvPr id="19" name="Text 16"/>
          <p:cNvSpPr/>
          <p:nvPr/>
        </p:nvSpPr>
        <p:spPr>
          <a:xfrm>
            <a:off x="3679031" y="2386013"/>
            <a:ext cx="1882378"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Rich CLI - Beautiful command-line interface</a:t>
            </a:r>
            <a:endParaRPr lang="en-US" sz="727" dirty="0"/>
          </a:p>
        </p:txBody>
      </p:sp>
      <p:sp>
        <p:nvSpPr>
          <p:cNvPr id="20" name="Shape 17"/>
          <p:cNvSpPr/>
          <p:nvPr/>
        </p:nvSpPr>
        <p:spPr>
          <a:xfrm>
            <a:off x="3286125" y="2714625"/>
            <a:ext cx="285750" cy="285750"/>
          </a:xfrm>
          <a:prstGeom prst="rect">
            <a:avLst/>
          </a:prstGeom>
          <a:solidFill>
            <a:srgbClr val="D4AF37"/>
          </a:solidFill>
          <a:ln/>
        </p:spPr>
      </p:sp>
      <p:sp>
        <p:nvSpPr>
          <p:cNvPr id="21" name="Text 18"/>
          <p:cNvSpPr/>
          <p:nvPr/>
        </p:nvSpPr>
        <p:spPr>
          <a:xfrm>
            <a:off x="3286125" y="2714625"/>
            <a:ext cx="285750" cy="285750"/>
          </a:xfrm>
          <a:prstGeom prst="rect">
            <a:avLst/>
          </a:prstGeom>
          <a:noFill/>
          <a:ln/>
        </p:spPr>
        <p:txBody>
          <a:bodyPr wrap="square" lIns="0" tIns="0" rIns="0" bIns="0" rtlCol="0" anchor="ctr">
            <a:spAutoFit/>
          </a:bodyPr>
          <a:lstStyle/>
          <a:p>
            <a:pPr algn="ctr" indent="0" marL="0">
              <a:lnSpc>
                <a:spcPts val="1200"/>
              </a:lnSpc>
              <a:buNone/>
            </a:pPr>
            <a:r>
              <a:rPr lang="en-US" sz="885" b="1" dirty="0">
                <a:solidFill>
                  <a:srgbClr val="0A192F"/>
                </a:solidFill>
                <a:latin typeface="Times New Roman" pitchFamily="34" charset="0"/>
                <a:ea typeface="Times New Roman" pitchFamily="34" charset="-122"/>
                <a:cs typeface="Times New Roman" pitchFamily="34" charset="-120"/>
              </a:rPr>
              <a:t>⑤</a:t>
            </a:r>
            <a:endParaRPr lang="en-US" sz="885" dirty="0"/>
          </a:p>
        </p:txBody>
      </p:sp>
      <p:sp>
        <p:nvSpPr>
          <p:cNvPr id="22" name="Text 19"/>
          <p:cNvSpPr/>
          <p:nvPr/>
        </p:nvSpPr>
        <p:spPr>
          <a:xfrm>
            <a:off x="3679031" y="2714625"/>
            <a:ext cx="1927027"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Supporting Libraries</a:t>
            </a:r>
            <a:endParaRPr lang="en-US" sz="885" dirty="0"/>
          </a:p>
        </p:txBody>
      </p:sp>
      <p:sp>
        <p:nvSpPr>
          <p:cNvPr id="23" name="Text 20"/>
          <p:cNvSpPr/>
          <p:nvPr/>
        </p:nvSpPr>
        <p:spPr>
          <a:xfrm>
            <a:off x="3679031" y="2921794"/>
            <a:ext cx="1927027"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requests, python-dotenv, rich - Reliable tools</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INAPI Patent Application</a:t>
            </a:r>
            <a:endParaRPr lang="en-US" sz="2862" dirty="0"/>
          </a:p>
        </p:txBody>
      </p:sp>
      <p:sp>
        <p:nvSpPr>
          <p:cNvPr id="4" name="Text 1"/>
          <p:cNvSpPr/>
          <p:nvPr/>
        </p:nvSpPr>
        <p:spPr>
          <a:xfrm>
            <a:off x="778669" y="1810941"/>
            <a:ext cx="7793831" cy="92869"/>
          </a:xfrm>
          <a:prstGeom prst="rect">
            <a:avLst/>
          </a:prstGeom>
          <a:noFill/>
          <a:ln/>
        </p:spPr>
        <p:txBody>
          <a:bodyPr wrap="none" lIns="0" tIns="0" rIns="0" bIns="0" rtlCol="0" anchor="t">
            <a:spAutoFit/>
          </a:bodyPr>
          <a:lstStyle/>
          <a:p>
            <a:pPr algn="l" indent="0" marL="0">
              <a:lnSpc>
                <a:spcPts val="700"/>
              </a:lnSpc>
              <a:buNone/>
            </a:pPr>
            <a:r>
              <a:rPr lang="en-US" sz="568" spc="2" kern="0" dirty="0">
                <a:solidFill>
                  <a:srgbClr val="999999"/>
                </a:solidFill>
                <a:latin typeface="Lato" pitchFamily="34" charset="0"/>
                <a:ea typeface="Lato" pitchFamily="34" charset="-122"/>
                <a:cs typeface="Lato" pitchFamily="34" charset="-120"/>
              </a:rPr>
              <a:t>APPLICANT NAME</a:t>
            </a:r>
            <a:endParaRPr lang="en-US" sz="568" dirty="0"/>
          </a:p>
        </p:txBody>
      </p:sp>
      <p:sp>
        <p:nvSpPr>
          <p:cNvPr id="5" name="Text 2"/>
          <p:cNvSpPr/>
          <p:nvPr/>
        </p:nvSpPr>
        <p:spPr>
          <a:xfrm>
            <a:off x="778669" y="1946672"/>
            <a:ext cx="7793831"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0A192F"/>
                </a:solidFill>
                <a:latin typeface="Lato" pitchFamily="34" charset="0"/>
                <a:ea typeface="Lato" pitchFamily="34" charset="-122"/>
                <a:cs typeface="Lato" pitchFamily="34" charset="-120"/>
              </a:rPr>
              <a:t>Benlehlali Mohand Amine</a:t>
            </a:r>
            <a:endParaRPr lang="en-US" sz="885" dirty="0"/>
          </a:p>
        </p:txBody>
      </p:sp>
      <p:sp>
        <p:nvSpPr>
          <p:cNvPr id="6" name="Text 3"/>
          <p:cNvSpPr/>
          <p:nvPr/>
        </p:nvSpPr>
        <p:spPr>
          <a:xfrm>
            <a:off x="778669" y="2188108"/>
            <a:ext cx="7793831" cy="133945"/>
          </a:xfrm>
          <a:prstGeom prst="rect">
            <a:avLst/>
          </a:prstGeom>
          <a:noFill/>
          <a:ln/>
        </p:spPr>
        <p:txBody>
          <a:bodyPr wrap="none" lIns="0" tIns="0" rIns="0" bIns="0" rtlCol="0" anchor="t">
            <a:spAutoFit/>
          </a:bodyPr>
          <a:lstStyle/>
          <a:p>
            <a:pPr algn="l" indent="0" marL="0">
              <a:lnSpc>
                <a:spcPts val="1100"/>
              </a:lnSpc>
              <a:buNone/>
            </a:pPr>
            <a:r>
              <a:rPr lang="en-US" sz="834" dirty="0">
                <a:solidFill>
                  <a:srgbClr val="333333"/>
                </a:solidFill>
                <a:latin typeface="Times New Roman" pitchFamily="34" charset="0"/>
                <a:ea typeface="Times New Roman" pitchFamily="34" charset="-122"/>
                <a:cs typeface="Times New Roman" pitchFamily="34" charset="-120"/>
              </a:rPr>
              <a:t>بن لعلالي محند أمين</a:t>
            </a:r>
            <a:endParaRPr lang="en-US" sz="834" dirty="0"/>
          </a:p>
        </p:txBody>
      </p:sp>
      <p:sp>
        <p:nvSpPr>
          <p:cNvPr id="7" name="Text 4"/>
          <p:cNvSpPr/>
          <p:nvPr/>
        </p:nvSpPr>
        <p:spPr>
          <a:xfrm>
            <a:off x="778669" y="2493504"/>
            <a:ext cx="7793831" cy="92869"/>
          </a:xfrm>
          <a:prstGeom prst="rect">
            <a:avLst/>
          </a:prstGeom>
          <a:noFill/>
          <a:ln/>
        </p:spPr>
        <p:txBody>
          <a:bodyPr wrap="none" lIns="0" tIns="0" rIns="0" bIns="0" rtlCol="0" anchor="t">
            <a:spAutoFit/>
          </a:bodyPr>
          <a:lstStyle/>
          <a:p>
            <a:pPr algn="l" indent="0" marL="0">
              <a:lnSpc>
                <a:spcPts val="700"/>
              </a:lnSpc>
              <a:buNone/>
            </a:pPr>
            <a:r>
              <a:rPr lang="en-US" sz="568" spc="2" kern="0" dirty="0">
                <a:solidFill>
                  <a:srgbClr val="999999"/>
                </a:solidFill>
                <a:latin typeface="Lato" pitchFamily="34" charset="0"/>
                <a:ea typeface="Lato" pitchFamily="34" charset="-122"/>
                <a:cs typeface="Lato" pitchFamily="34" charset="-120"/>
              </a:rPr>
              <a:t>OFFICIAL ADDRESS</a:t>
            </a:r>
            <a:endParaRPr lang="en-US" sz="568" dirty="0"/>
          </a:p>
        </p:txBody>
      </p:sp>
      <p:sp>
        <p:nvSpPr>
          <p:cNvPr id="8" name="Text 5"/>
          <p:cNvSpPr/>
          <p:nvPr/>
        </p:nvSpPr>
        <p:spPr>
          <a:xfrm>
            <a:off x="778669" y="2629235"/>
            <a:ext cx="7793831" cy="132159"/>
          </a:xfrm>
          <a:prstGeom prst="rect">
            <a:avLst/>
          </a:prstGeom>
          <a:noFill/>
          <a:ln/>
        </p:spPr>
        <p:txBody>
          <a:bodyPr wrap="none" lIns="0" tIns="0" rIns="0" bIns="0" rtlCol="0" anchor="t">
            <a:spAutoFit/>
          </a:bodyPr>
          <a:lstStyle/>
          <a:p>
            <a:pPr algn="l" indent="0" marL="0">
              <a:lnSpc>
                <a:spcPts val="1100"/>
              </a:lnSpc>
              <a:buNone/>
            </a:pPr>
            <a:r>
              <a:rPr lang="en-US" sz="834" dirty="0">
                <a:solidFill>
                  <a:srgbClr val="333333"/>
                </a:solidFill>
                <a:latin typeface="Times New Roman" pitchFamily="34" charset="0"/>
                <a:ea typeface="Times New Roman" pitchFamily="34" charset="-122"/>
                <a:cs typeface="Times New Roman" pitchFamily="34" charset="-120"/>
              </a:rPr>
              <a:t>16, Cité Ibn Khamis, Tlemcen, Algeria</a:t>
            </a:r>
            <a:endParaRPr lang="en-US" sz="834" dirty="0"/>
          </a:p>
        </p:txBody>
      </p:sp>
      <p:sp>
        <p:nvSpPr>
          <p:cNvPr id="9" name="Text 6"/>
          <p:cNvSpPr/>
          <p:nvPr/>
        </p:nvSpPr>
        <p:spPr>
          <a:xfrm>
            <a:off x="778669" y="3075719"/>
            <a:ext cx="3650456" cy="92869"/>
          </a:xfrm>
          <a:prstGeom prst="rect">
            <a:avLst/>
          </a:prstGeom>
          <a:noFill/>
          <a:ln/>
        </p:spPr>
        <p:txBody>
          <a:bodyPr wrap="none" lIns="0" tIns="0" rIns="0" bIns="0" rtlCol="0" anchor="t">
            <a:spAutoFit/>
          </a:bodyPr>
          <a:lstStyle/>
          <a:p>
            <a:pPr algn="l" indent="0" marL="0">
              <a:lnSpc>
                <a:spcPts val="700"/>
              </a:lnSpc>
              <a:buNone/>
            </a:pPr>
            <a:r>
              <a:rPr lang="en-US" sz="568" spc="2" kern="0" dirty="0">
                <a:solidFill>
                  <a:srgbClr val="999999"/>
                </a:solidFill>
                <a:latin typeface="Lato" pitchFamily="34" charset="0"/>
                <a:ea typeface="Lato" pitchFamily="34" charset="-122"/>
                <a:cs typeface="Lato" pitchFamily="34" charset="-120"/>
              </a:rPr>
              <a:t>PHONE NUMBER</a:t>
            </a:r>
            <a:endParaRPr lang="en-US" sz="568" dirty="0"/>
          </a:p>
        </p:txBody>
      </p:sp>
      <p:sp>
        <p:nvSpPr>
          <p:cNvPr id="10" name="Text 7"/>
          <p:cNvSpPr/>
          <p:nvPr/>
        </p:nvSpPr>
        <p:spPr>
          <a:xfrm>
            <a:off x="778669" y="3211450"/>
            <a:ext cx="3650456"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0A192F"/>
                </a:solidFill>
                <a:latin typeface="Lato" pitchFamily="34" charset="0"/>
                <a:ea typeface="Lato" pitchFamily="34" charset="-122"/>
                <a:cs typeface="Lato" pitchFamily="34" charset="-120"/>
              </a:rPr>
              <a:t>+213 659 45 45 73</a:t>
            </a:r>
            <a:endParaRPr lang="en-US" sz="885" dirty="0"/>
          </a:p>
        </p:txBody>
      </p:sp>
      <p:sp>
        <p:nvSpPr>
          <p:cNvPr id="11" name="Text 8"/>
          <p:cNvSpPr/>
          <p:nvPr/>
        </p:nvSpPr>
        <p:spPr>
          <a:xfrm>
            <a:off x="4922044" y="3075719"/>
            <a:ext cx="3650456" cy="92869"/>
          </a:xfrm>
          <a:prstGeom prst="rect">
            <a:avLst/>
          </a:prstGeom>
          <a:noFill/>
          <a:ln/>
        </p:spPr>
        <p:txBody>
          <a:bodyPr wrap="none" lIns="0" tIns="0" rIns="0" bIns="0" rtlCol="0" anchor="t">
            <a:spAutoFit/>
          </a:bodyPr>
          <a:lstStyle/>
          <a:p>
            <a:pPr algn="l" indent="0" marL="0">
              <a:lnSpc>
                <a:spcPts val="700"/>
              </a:lnSpc>
              <a:buNone/>
            </a:pPr>
            <a:r>
              <a:rPr lang="en-US" sz="568" spc="2" kern="0" dirty="0">
                <a:solidFill>
                  <a:srgbClr val="999999"/>
                </a:solidFill>
                <a:latin typeface="Lato" pitchFamily="34" charset="0"/>
                <a:ea typeface="Lato" pitchFamily="34" charset="-122"/>
                <a:cs typeface="Lato" pitchFamily="34" charset="-120"/>
              </a:rPr>
              <a:t>DESIGNATION</a:t>
            </a:r>
            <a:endParaRPr lang="en-US" sz="568" dirty="0"/>
          </a:p>
        </p:txBody>
      </p:sp>
      <p:sp>
        <p:nvSpPr>
          <p:cNvPr id="12" name="Text 9"/>
          <p:cNvSpPr/>
          <p:nvPr/>
        </p:nvSpPr>
        <p:spPr>
          <a:xfrm>
            <a:off x="4922044" y="3211450"/>
            <a:ext cx="3650456"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0A192F"/>
                </a:solidFill>
                <a:latin typeface="Lato" pitchFamily="34" charset="0"/>
                <a:ea typeface="Lato" pitchFamily="34" charset="-122"/>
                <a:cs typeface="Lato" pitchFamily="34" charset="-120"/>
              </a:rPr>
              <a:t>Inventor</a:t>
            </a:r>
            <a:endParaRPr lang="en-US" sz="885" dirty="0"/>
          </a:p>
        </p:txBody>
      </p:sp>
      <p:sp>
        <p:nvSpPr>
          <p:cNvPr id="13" name="Text 10"/>
          <p:cNvSpPr/>
          <p:nvPr/>
        </p:nvSpPr>
        <p:spPr>
          <a:xfrm>
            <a:off x="778669" y="3588618"/>
            <a:ext cx="7793831" cy="92869"/>
          </a:xfrm>
          <a:prstGeom prst="rect">
            <a:avLst/>
          </a:prstGeom>
          <a:noFill/>
          <a:ln/>
        </p:spPr>
        <p:txBody>
          <a:bodyPr wrap="none" lIns="0" tIns="0" rIns="0" bIns="0" rtlCol="0" anchor="t">
            <a:spAutoFit/>
          </a:bodyPr>
          <a:lstStyle/>
          <a:p>
            <a:pPr algn="l" indent="0" marL="0">
              <a:lnSpc>
                <a:spcPts val="700"/>
              </a:lnSpc>
              <a:buNone/>
            </a:pPr>
            <a:r>
              <a:rPr lang="en-US" sz="568" spc="2" kern="0" dirty="0">
                <a:solidFill>
                  <a:srgbClr val="999999"/>
                </a:solidFill>
                <a:latin typeface="Lato" pitchFamily="34" charset="0"/>
                <a:ea typeface="Lato" pitchFamily="34" charset="-122"/>
                <a:cs typeface="Lato" pitchFamily="34" charset="-120"/>
              </a:rPr>
              <a:t>FILING ORGANIZATION</a:t>
            </a:r>
            <a:endParaRPr lang="en-US" sz="568" dirty="0"/>
          </a:p>
        </p:txBody>
      </p:sp>
      <p:sp>
        <p:nvSpPr>
          <p:cNvPr id="14" name="Text 11"/>
          <p:cNvSpPr/>
          <p:nvPr/>
        </p:nvSpPr>
        <p:spPr>
          <a:xfrm>
            <a:off x="778669" y="3724349"/>
            <a:ext cx="7793831" cy="205718"/>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0A192F"/>
                </a:solidFill>
                <a:latin typeface="Lato" pitchFamily="34" charset="0"/>
                <a:ea typeface="Lato" pitchFamily="34" charset="-122"/>
                <a:cs typeface="Lato" pitchFamily="34" charset="-120"/>
              </a:rPr>
              <a:t>National Algerian Institute for Industrial Property</a:t>
            </a:r>
            <a:endParaRPr lang="en-US" sz="885" dirty="0"/>
          </a:p>
        </p:txBody>
      </p:sp>
      <p:sp>
        <p:nvSpPr>
          <p:cNvPr id="15" name="Text 12"/>
          <p:cNvSpPr/>
          <p:nvPr/>
        </p:nvSpPr>
        <p:spPr>
          <a:xfrm>
            <a:off x="778669" y="3965786"/>
            <a:ext cx="7793831" cy="132159"/>
          </a:xfrm>
          <a:prstGeom prst="rect">
            <a:avLst/>
          </a:prstGeom>
          <a:noFill/>
          <a:ln/>
        </p:spPr>
        <p:txBody>
          <a:bodyPr wrap="none" lIns="0" tIns="0" rIns="0" bIns="0" rtlCol="0" anchor="t">
            <a:spAutoFit/>
          </a:bodyPr>
          <a:lstStyle/>
          <a:p>
            <a:pPr algn="l" indent="0" marL="0">
              <a:lnSpc>
                <a:spcPts val="1100"/>
              </a:lnSpc>
              <a:buNone/>
            </a:pPr>
            <a:r>
              <a:rPr lang="en-US" sz="834" dirty="0">
                <a:solidFill>
                  <a:srgbClr val="333333"/>
                </a:solidFill>
                <a:latin typeface="Times New Roman" pitchFamily="34" charset="0"/>
                <a:ea typeface="Times New Roman" pitchFamily="34" charset="-122"/>
                <a:cs typeface="Times New Roman" pitchFamily="34" charset="-120"/>
              </a:rPr>
              <a:t>INAPI - Institut National Algérien de la Propriété Industrielle</a:t>
            </a:r>
            <a:endParaRPr lang="en-US" sz="83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10348" y="756177"/>
            <a:ext cx="723305" cy="101798"/>
          </a:xfrm>
          <a:prstGeom prst="rect">
            <a:avLst/>
          </a:prstGeom>
          <a:noFill/>
          <a:ln/>
        </p:spPr>
        <p:txBody>
          <a:bodyPr wrap="none" lIns="0" tIns="0" rIns="0" bIns="0" rtlCol="0" anchor="t">
            <a:spAutoFit/>
          </a:bodyPr>
          <a:lstStyle/>
          <a:p>
            <a:pPr algn="ctr" indent="0" marL="0">
              <a:lnSpc>
                <a:spcPts val="800"/>
              </a:lnSpc>
              <a:buNone/>
            </a:pPr>
            <a:r>
              <a:rPr lang="en-US" sz="621" spc="2" kern="0" dirty="0">
                <a:solidFill>
                  <a:srgbClr val="999999"/>
                </a:solidFill>
                <a:latin typeface="Lato" pitchFamily="34" charset="0"/>
                <a:ea typeface="Lato" pitchFamily="34" charset="-122"/>
                <a:cs typeface="Lato" pitchFamily="34" charset="-120"/>
              </a:rPr>
              <a:t>PATENT TITLE</a:t>
            </a:r>
            <a:endParaRPr lang="en-US" sz="621" dirty="0"/>
          </a:p>
        </p:txBody>
      </p:sp>
      <p:sp>
        <p:nvSpPr>
          <p:cNvPr id="4" name="Text 1"/>
          <p:cNvSpPr/>
          <p:nvPr/>
        </p:nvSpPr>
        <p:spPr>
          <a:xfrm>
            <a:off x="1000125" y="943701"/>
            <a:ext cx="7143750" cy="1440163"/>
          </a:xfrm>
          <a:prstGeom prst="rect">
            <a:avLst/>
          </a:prstGeom>
          <a:noFill/>
          <a:ln/>
        </p:spPr>
        <p:txBody>
          <a:bodyPr wrap="square" lIns="0" tIns="0" rIns="0" bIns="0" rtlCol="0" anchor="t">
            <a:spAutoFit/>
          </a:bodyPr>
          <a:lstStyle/>
          <a:p>
            <a:pPr algn="ctr" indent="0" marL="0">
              <a:lnSpc>
                <a:spcPts val="3800"/>
              </a:lnSpc>
              <a:buNone/>
            </a:pPr>
            <a:r>
              <a:rPr lang="en-US" sz="2436" b="1" dirty="0">
                <a:solidFill>
                  <a:srgbClr val="0A192F"/>
                </a:solidFill>
                <a:latin typeface="Playfair Display" pitchFamily="34" charset="0"/>
                <a:ea typeface="Playfair Display" pitchFamily="34" charset="-122"/>
                <a:cs typeface="Playfair Display" pitchFamily="34" charset="-120"/>
              </a:rPr>
              <a:t>Patent Oracle: Artificial Intelligence System for Generation and Validation of Transdisciplinary Patent Concepts</a:t>
            </a:r>
            <a:endParaRPr lang="en-US" sz="2436" dirty="0"/>
          </a:p>
        </p:txBody>
      </p:sp>
      <p:sp>
        <p:nvSpPr>
          <p:cNvPr id="5" name="Text 2"/>
          <p:cNvSpPr/>
          <p:nvPr/>
        </p:nvSpPr>
        <p:spPr>
          <a:xfrm>
            <a:off x="1357313" y="2576745"/>
            <a:ext cx="6429375" cy="119658"/>
          </a:xfrm>
          <a:prstGeom prst="rect">
            <a:avLst/>
          </a:prstGeom>
          <a:noFill/>
          <a:ln/>
        </p:spPr>
        <p:txBody>
          <a:bodyPr wrap="none" lIns="0" tIns="0" rIns="0" bIns="0" rtlCol="0" anchor="t">
            <a:spAutoFit/>
          </a:bodyPr>
          <a:lstStyle/>
          <a:p>
            <a:pPr algn="ctr" indent="0" marL="0">
              <a:lnSpc>
                <a:spcPts val="900"/>
              </a:lnSpc>
              <a:buNone/>
            </a:pPr>
            <a:r>
              <a:rPr lang="en-US" sz="727" spc="2" kern="0" dirty="0">
                <a:solidFill>
                  <a:srgbClr val="999999"/>
                </a:solidFill>
                <a:latin typeface="Lato" pitchFamily="34" charset="0"/>
                <a:ea typeface="Lato" pitchFamily="34" charset="-122"/>
                <a:cs typeface="Lato" pitchFamily="34" charset="-120"/>
              </a:rPr>
              <a:t>CORE INNOVATION</a:t>
            </a:r>
            <a:endParaRPr lang="en-US" sz="727" dirty="0"/>
          </a:p>
        </p:txBody>
      </p:sp>
      <p:sp>
        <p:nvSpPr>
          <p:cNvPr id="6" name="Text 3"/>
          <p:cNvSpPr/>
          <p:nvPr/>
        </p:nvSpPr>
        <p:spPr>
          <a:xfrm>
            <a:off x="1357313" y="2753553"/>
            <a:ext cx="6429375"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AI Integration with International Patent Databases</a:t>
            </a:r>
            <a:endParaRPr lang="en-US" sz="1397" dirty="0"/>
          </a:p>
        </p:txBody>
      </p:sp>
      <p:sp>
        <p:nvSpPr>
          <p:cNvPr id="7" name="Text 4"/>
          <p:cNvSpPr/>
          <p:nvPr/>
        </p:nvSpPr>
        <p:spPr>
          <a:xfrm>
            <a:off x="1357313" y="3076808"/>
            <a:ext cx="6429375" cy="694339"/>
          </a:xfrm>
          <a:prstGeom prst="rect">
            <a:avLst/>
          </a:prstGeom>
          <a:noFill/>
          <a:ln/>
        </p:spPr>
        <p:txBody>
          <a:bodyPr wrap="square" lIns="0" tIns="0" rIns="0" bIns="0" rtlCol="0" anchor="t">
            <a:spAutoFit/>
          </a:bodyPr>
          <a:lstStyle/>
          <a:p>
            <a:pPr algn="ctr" indent="0" marL="0">
              <a:lnSpc>
                <a:spcPts val="1800"/>
              </a:lnSpc>
              <a:buNone/>
            </a:pPr>
            <a:r>
              <a:rPr lang="en-US" sz="942" dirty="0">
                <a:solidFill>
                  <a:srgbClr val="333333"/>
                </a:solidFill>
                <a:latin typeface="Lato" pitchFamily="34" charset="0"/>
                <a:ea typeface="Lato" pitchFamily="34" charset="-122"/>
                <a:cs typeface="Lato" pitchFamily="34" charset="-120"/>
              </a:rPr>
              <a:t>The core innovation lies in integrating an advanced artificial intelligence model (llama3) with international patent databases (EPO) to generate novel patent ideas and instantly verify their novelty through automated processes, significantly accelerating the innovation cycle.</a:t>
            </a:r>
            <a:endParaRPr lang="en-US" sz="942" dirty="0"/>
          </a:p>
        </p:txBody>
      </p:sp>
      <p:sp>
        <p:nvSpPr>
          <p:cNvPr id="8" name="Shape 5"/>
          <p:cNvSpPr/>
          <p:nvPr/>
        </p:nvSpPr>
        <p:spPr>
          <a:xfrm>
            <a:off x="2331541" y="3856872"/>
            <a:ext cx="4480917" cy="530423"/>
          </a:xfrm>
          <a:prstGeom prst="rect">
            <a:avLst/>
          </a:prstGeom>
          <a:solidFill>
            <a:srgbClr val="F8F9FA"/>
          </a:solidFill>
          <a:ln/>
        </p:spPr>
      </p:sp>
      <p:sp>
        <p:nvSpPr>
          <p:cNvPr id="9" name="Shape 6"/>
          <p:cNvSpPr/>
          <p:nvPr/>
        </p:nvSpPr>
        <p:spPr>
          <a:xfrm>
            <a:off x="2331541" y="3856872"/>
            <a:ext cx="4480917" cy="21431"/>
          </a:xfrm>
          <a:prstGeom prst="rect">
            <a:avLst/>
          </a:prstGeom>
          <a:solidFill>
            <a:srgbClr val="D4AF37"/>
          </a:solidFill>
          <a:ln/>
        </p:spPr>
      </p:sp>
      <p:sp>
        <p:nvSpPr>
          <p:cNvPr id="10" name="Shape 7"/>
          <p:cNvSpPr/>
          <p:nvPr/>
        </p:nvSpPr>
        <p:spPr>
          <a:xfrm>
            <a:off x="2331541" y="4365864"/>
            <a:ext cx="4480917" cy="21431"/>
          </a:xfrm>
          <a:prstGeom prst="rect">
            <a:avLst/>
          </a:prstGeom>
          <a:solidFill>
            <a:srgbClr val="D4AF37"/>
          </a:solidFill>
          <a:ln/>
        </p:spPr>
      </p:sp>
      <p:sp>
        <p:nvSpPr>
          <p:cNvPr id="11" name="Text 8"/>
          <p:cNvSpPr/>
          <p:nvPr/>
        </p:nvSpPr>
        <p:spPr>
          <a:xfrm>
            <a:off x="2331541" y="3964028"/>
            <a:ext cx="4480917" cy="119658"/>
          </a:xfrm>
          <a:prstGeom prst="rect">
            <a:avLst/>
          </a:prstGeom>
          <a:noFill/>
          <a:ln/>
        </p:spPr>
        <p:txBody>
          <a:bodyPr wrap="none" lIns="0" tIns="0" rIns="0" bIns="0" rtlCol="0" anchor="t">
            <a:spAutoFit/>
          </a:bodyPr>
          <a:lstStyle/>
          <a:p>
            <a:pPr algn="ctr" indent="0" marL="0">
              <a:lnSpc>
                <a:spcPts val="900"/>
              </a:lnSpc>
              <a:buNone/>
            </a:pPr>
            <a:r>
              <a:rPr lang="en-US" sz="727" spc="2" kern="0" dirty="0">
                <a:solidFill>
                  <a:srgbClr val="999999"/>
                </a:solidFill>
                <a:latin typeface="Lato" pitchFamily="34" charset="0"/>
                <a:ea typeface="Lato" pitchFamily="34" charset="-122"/>
                <a:cs typeface="Lato" pitchFamily="34" charset="-120"/>
              </a:rPr>
              <a:t>ARABIC TITLE</a:t>
            </a:r>
            <a:endParaRPr lang="en-US" sz="727" dirty="0"/>
          </a:p>
        </p:txBody>
      </p:sp>
      <p:sp>
        <p:nvSpPr>
          <p:cNvPr id="12" name="Text 9"/>
          <p:cNvSpPr/>
          <p:nvPr/>
        </p:nvSpPr>
        <p:spPr>
          <a:xfrm>
            <a:off x="2331541" y="4140836"/>
            <a:ext cx="4480917" cy="139303"/>
          </a:xfrm>
          <a:prstGeom prst="rect">
            <a:avLst/>
          </a:prstGeom>
          <a:noFill/>
          <a:ln/>
        </p:spPr>
        <p:txBody>
          <a:bodyPr wrap="none" lIns="0" tIns="0" rIns="0" bIns="0" rtlCol="0" anchor="t">
            <a:spAutoFit/>
          </a:bodyPr>
          <a:lstStyle/>
          <a:p>
            <a:pPr algn="ctr" indent="0" marL="0">
              <a:lnSpc>
                <a:spcPts val="1100"/>
              </a:lnSpc>
              <a:buNone/>
            </a:pPr>
            <a:r>
              <a:rPr lang="en-US" sz="784" b="1" i="1" dirty="0">
                <a:solidFill>
                  <a:srgbClr val="666666"/>
                </a:solidFill>
                <a:latin typeface="Lato" pitchFamily="34" charset="0"/>
                <a:ea typeface="Lato" pitchFamily="34" charset="-122"/>
                <a:cs typeface="Lato" pitchFamily="34" charset="-120"/>
              </a:rPr>
              <a:t>Patent Oracle: نظام ذكاء اصطناعي لتوليد والتحقق من مفاهيم براءات الاختراع متعددة التخصصات</a:t>
            </a:r>
            <a:endParaRPr lang="en-US" sz="784"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ctr"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Benefits and Impact</a:t>
            </a:r>
            <a:endParaRPr lang="en-US" sz="2862" dirty="0"/>
          </a:p>
        </p:txBody>
      </p:sp>
      <p:sp>
        <p:nvSpPr>
          <p:cNvPr id="4" name="Shape 1"/>
          <p:cNvSpPr/>
          <p:nvPr/>
        </p:nvSpPr>
        <p:spPr>
          <a:xfrm>
            <a:off x="571500" y="1482328"/>
            <a:ext cx="357188" cy="357188"/>
          </a:xfrm>
          <a:prstGeom prst="rect">
            <a:avLst/>
          </a:prstGeom>
          <a:solidFill>
            <a:srgbClr val="D4AF37"/>
          </a:solidFill>
          <a:ln/>
        </p:spPr>
      </p:sp>
      <p:sp>
        <p:nvSpPr>
          <p:cNvPr id="5" name="Text 2"/>
          <p:cNvSpPr/>
          <p:nvPr/>
        </p:nvSpPr>
        <p:spPr>
          <a:xfrm>
            <a:off x="571500" y="1482328"/>
            <a:ext cx="357188" cy="357188"/>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0A192F"/>
                </a:solidFill>
                <a:latin typeface="Playfair Display" pitchFamily="34" charset="0"/>
                <a:ea typeface="Playfair Display" pitchFamily="34" charset="-122"/>
                <a:cs typeface="Playfair Display" pitchFamily="34" charset="-120"/>
              </a:rPr>
              <a:t>⚡</a:t>
            </a:r>
            <a:endParaRPr lang="en-US" sz="1193" dirty="0"/>
          </a:p>
        </p:txBody>
      </p:sp>
      <p:sp>
        <p:nvSpPr>
          <p:cNvPr id="6" name="Text 3"/>
          <p:cNvSpPr/>
          <p:nvPr/>
        </p:nvSpPr>
        <p:spPr>
          <a:xfrm>
            <a:off x="985838" y="1482328"/>
            <a:ext cx="1676995" cy="204295"/>
          </a:xfrm>
          <a:prstGeom prst="rect">
            <a:avLst/>
          </a:prstGeom>
          <a:noFill/>
          <a:ln/>
        </p:spPr>
        <p:txBody>
          <a:bodyPr wrap="none" lIns="0" tIns="0" rIns="0" bIns="0" rtlCol="0" anchor="t">
            <a:spAutoFit/>
          </a:bodyPr>
          <a:lstStyle/>
          <a:p>
            <a:pPr algn="l" indent="0" marL="0">
              <a:lnSpc>
                <a:spcPts val="1600"/>
              </a:lnSpc>
              <a:buNone/>
            </a:pPr>
            <a:r>
              <a:rPr lang="en-US" sz="1090" b="1" dirty="0">
                <a:solidFill>
                  <a:srgbClr val="0A192F"/>
                </a:solidFill>
                <a:latin typeface="Playfair Display" pitchFamily="34" charset="0"/>
                <a:ea typeface="Playfair Display" pitchFamily="34" charset="-122"/>
                <a:cs typeface="Playfair Display" pitchFamily="34" charset="-120"/>
              </a:rPr>
              <a:t>Accelerated Innovation</a:t>
            </a:r>
            <a:endParaRPr lang="en-US" sz="1090" dirty="0"/>
          </a:p>
        </p:txBody>
      </p:sp>
      <p:sp>
        <p:nvSpPr>
          <p:cNvPr id="7" name="Text 4"/>
          <p:cNvSpPr/>
          <p:nvPr/>
        </p:nvSpPr>
        <p:spPr>
          <a:xfrm>
            <a:off x="571500" y="1896666"/>
            <a:ext cx="3929063" cy="365727"/>
          </a:xfrm>
          <a:prstGeom prst="rect">
            <a:avLst/>
          </a:prstGeom>
          <a:noFill/>
          <a:ln/>
        </p:spPr>
        <p:txBody>
          <a:bodyPr wrap="square" lIns="8509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Generate patent ideas in minutes instead of months of research and development</a:t>
            </a:r>
            <a:endParaRPr lang="en-US" sz="834" dirty="0"/>
          </a:p>
        </p:txBody>
      </p:sp>
      <p:sp>
        <p:nvSpPr>
          <p:cNvPr id="8" name="Shape 5"/>
          <p:cNvSpPr/>
          <p:nvPr/>
        </p:nvSpPr>
        <p:spPr>
          <a:xfrm>
            <a:off x="4643438" y="1482328"/>
            <a:ext cx="357188" cy="357188"/>
          </a:xfrm>
          <a:prstGeom prst="rect">
            <a:avLst/>
          </a:prstGeom>
          <a:solidFill>
            <a:srgbClr val="D4AF37"/>
          </a:solidFill>
          <a:ln/>
        </p:spPr>
      </p:sp>
      <p:sp>
        <p:nvSpPr>
          <p:cNvPr id="9" name="Text 6"/>
          <p:cNvSpPr/>
          <p:nvPr/>
        </p:nvSpPr>
        <p:spPr>
          <a:xfrm>
            <a:off x="4643438" y="1482328"/>
            <a:ext cx="357188" cy="357188"/>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0A192F"/>
                </a:solidFill>
                <a:latin typeface="Playfair Display" pitchFamily="34" charset="0"/>
                <a:ea typeface="Playfair Display" pitchFamily="34" charset="-122"/>
                <a:cs typeface="Playfair Display" pitchFamily="34" charset="-120"/>
              </a:rPr>
              <a:t>✓</a:t>
            </a:r>
            <a:endParaRPr lang="en-US" sz="1193" dirty="0"/>
          </a:p>
        </p:txBody>
      </p:sp>
      <p:sp>
        <p:nvSpPr>
          <p:cNvPr id="10" name="Text 7"/>
          <p:cNvSpPr/>
          <p:nvPr/>
        </p:nvSpPr>
        <p:spPr>
          <a:xfrm>
            <a:off x="5057775" y="1482328"/>
            <a:ext cx="1321594" cy="204295"/>
          </a:xfrm>
          <a:prstGeom prst="rect">
            <a:avLst/>
          </a:prstGeom>
          <a:noFill/>
          <a:ln/>
        </p:spPr>
        <p:txBody>
          <a:bodyPr wrap="none" lIns="0" tIns="0" rIns="0" bIns="0" rtlCol="0" anchor="t">
            <a:spAutoFit/>
          </a:bodyPr>
          <a:lstStyle/>
          <a:p>
            <a:pPr algn="l" indent="0" marL="0">
              <a:lnSpc>
                <a:spcPts val="1600"/>
              </a:lnSpc>
              <a:buNone/>
            </a:pPr>
            <a:r>
              <a:rPr lang="en-US" sz="1090" b="1" dirty="0">
                <a:solidFill>
                  <a:srgbClr val="0A192F"/>
                </a:solidFill>
                <a:latin typeface="Playfair Display" pitchFamily="34" charset="0"/>
                <a:ea typeface="Playfair Display" pitchFamily="34" charset="-122"/>
                <a:cs typeface="Playfair Display" pitchFamily="34" charset="-120"/>
              </a:rPr>
              <a:t>Quality Assurance</a:t>
            </a:r>
            <a:endParaRPr lang="en-US" sz="1090" dirty="0"/>
          </a:p>
        </p:txBody>
      </p:sp>
      <p:sp>
        <p:nvSpPr>
          <p:cNvPr id="11" name="Text 8"/>
          <p:cNvSpPr/>
          <p:nvPr/>
        </p:nvSpPr>
        <p:spPr>
          <a:xfrm>
            <a:off x="4643438" y="1896666"/>
            <a:ext cx="3929063" cy="182863"/>
          </a:xfrm>
          <a:prstGeom prst="rect">
            <a:avLst/>
          </a:prstGeom>
          <a:noFill/>
          <a:ln/>
        </p:spPr>
        <p:txBody>
          <a:bodyPr wrap="none" lIns="8509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Ensure idea novelty through instant verification against EPO database</a:t>
            </a:r>
            <a:endParaRPr lang="en-US" sz="834" dirty="0"/>
          </a:p>
        </p:txBody>
      </p:sp>
      <p:sp>
        <p:nvSpPr>
          <p:cNvPr id="12" name="Shape 9"/>
          <p:cNvSpPr/>
          <p:nvPr/>
        </p:nvSpPr>
        <p:spPr>
          <a:xfrm>
            <a:off x="571500" y="2405267"/>
            <a:ext cx="357188" cy="357188"/>
          </a:xfrm>
          <a:prstGeom prst="rect">
            <a:avLst/>
          </a:prstGeom>
          <a:solidFill>
            <a:srgbClr val="D4AF37"/>
          </a:solidFill>
          <a:ln/>
        </p:spPr>
      </p:sp>
      <p:sp>
        <p:nvSpPr>
          <p:cNvPr id="13" name="Text 10"/>
          <p:cNvSpPr/>
          <p:nvPr/>
        </p:nvSpPr>
        <p:spPr>
          <a:xfrm>
            <a:off x="571500" y="2405267"/>
            <a:ext cx="357188" cy="357188"/>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0A192F"/>
                </a:solidFill>
                <a:latin typeface="Playfair Display" pitchFamily="34" charset="0"/>
                <a:ea typeface="Playfair Display" pitchFamily="34" charset="-122"/>
                <a:cs typeface="Playfair Display" pitchFamily="34" charset="-120"/>
              </a:rPr>
              <a:t>🔭</a:t>
            </a:r>
            <a:endParaRPr lang="en-US" sz="1193" dirty="0"/>
          </a:p>
        </p:txBody>
      </p:sp>
      <p:sp>
        <p:nvSpPr>
          <p:cNvPr id="14" name="Text 11"/>
          <p:cNvSpPr/>
          <p:nvPr/>
        </p:nvSpPr>
        <p:spPr>
          <a:xfrm>
            <a:off x="985838" y="2405267"/>
            <a:ext cx="1430536" cy="204295"/>
          </a:xfrm>
          <a:prstGeom prst="rect">
            <a:avLst/>
          </a:prstGeom>
          <a:noFill/>
          <a:ln/>
        </p:spPr>
        <p:txBody>
          <a:bodyPr wrap="none" lIns="0" tIns="0" rIns="0" bIns="0" rtlCol="0" anchor="t">
            <a:spAutoFit/>
          </a:bodyPr>
          <a:lstStyle/>
          <a:p>
            <a:pPr algn="l" indent="0" marL="0">
              <a:lnSpc>
                <a:spcPts val="1600"/>
              </a:lnSpc>
              <a:buNone/>
            </a:pPr>
            <a:r>
              <a:rPr lang="en-US" sz="1090" b="1" dirty="0">
                <a:solidFill>
                  <a:srgbClr val="0A192F"/>
                </a:solidFill>
                <a:latin typeface="Playfair Display" pitchFamily="34" charset="0"/>
                <a:ea typeface="Playfair Display" pitchFamily="34" charset="-122"/>
                <a:cs typeface="Playfair Display" pitchFamily="34" charset="-120"/>
              </a:rPr>
              <a:t>Expanded Horizons</a:t>
            </a:r>
            <a:endParaRPr lang="en-US" sz="1090" dirty="0"/>
          </a:p>
        </p:txBody>
      </p:sp>
      <p:sp>
        <p:nvSpPr>
          <p:cNvPr id="15" name="Text 12"/>
          <p:cNvSpPr/>
          <p:nvPr/>
        </p:nvSpPr>
        <p:spPr>
          <a:xfrm>
            <a:off x="571500" y="2819605"/>
            <a:ext cx="3929063" cy="182863"/>
          </a:xfrm>
          <a:prstGeom prst="rect">
            <a:avLst/>
          </a:prstGeom>
          <a:noFill/>
          <a:ln/>
        </p:spPr>
        <p:txBody>
          <a:bodyPr wrap="none" lIns="8509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Discover new innovation opportunities across multiple fields and disciplines</a:t>
            </a:r>
            <a:endParaRPr lang="en-US" sz="834" dirty="0"/>
          </a:p>
        </p:txBody>
      </p:sp>
      <p:sp>
        <p:nvSpPr>
          <p:cNvPr id="16" name="Shape 13"/>
          <p:cNvSpPr/>
          <p:nvPr/>
        </p:nvSpPr>
        <p:spPr>
          <a:xfrm>
            <a:off x="4643438" y="2405267"/>
            <a:ext cx="357188" cy="357188"/>
          </a:xfrm>
          <a:prstGeom prst="rect">
            <a:avLst/>
          </a:prstGeom>
          <a:solidFill>
            <a:srgbClr val="D4AF37"/>
          </a:solidFill>
          <a:ln/>
        </p:spPr>
      </p:sp>
      <p:sp>
        <p:nvSpPr>
          <p:cNvPr id="17" name="Text 14"/>
          <p:cNvSpPr/>
          <p:nvPr/>
        </p:nvSpPr>
        <p:spPr>
          <a:xfrm>
            <a:off x="4643438" y="2405267"/>
            <a:ext cx="357188" cy="357188"/>
          </a:xfrm>
          <a:prstGeom prst="rect">
            <a:avLst/>
          </a:prstGeom>
          <a:noFill/>
          <a:ln/>
        </p:spPr>
        <p:txBody>
          <a:bodyPr wrap="square" lIns="0" tIns="0" rIns="0" bIns="0" rtlCol="0" anchor="ctr">
            <a:spAutoFit/>
          </a:bodyPr>
          <a:lstStyle/>
          <a:p>
            <a:pPr algn="ctr" indent="0" marL="0">
              <a:lnSpc>
                <a:spcPts val="1600"/>
              </a:lnSpc>
              <a:buNone/>
            </a:pPr>
            <a:r>
              <a:rPr lang="en-US" sz="1193" b="1" dirty="0">
                <a:solidFill>
                  <a:srgbClr val="0A192F"/>
                </a:solidFill>
                <a:latin typeface="Playfair Display" pitchFamily="34" charset="0"/>
                <a:ea typeface="Playfair Display" pitchFamily="34" charset="-122"/>
                <a:cs typeface="Playfair Display" pitchFamily="34" charset="-120"/>
              </a:rPr>
              <a:t>💰</a:t>
            </a:r>
            <a:endParaRPr lang="en-US" sz="1193" dirty="0"/>
          </a:p>
        </p:txBody>
      </p:sp>
      <p:sp>
        <p:nvSpPr>
          <p:cNvPr id="18" name="Text 15"/>
          <p:cNvSpPr/>
          <p:nvPr/>
        </p:nvSpPr>
        <p:spPr>
          <a:xfrm>
            <a:off x="5057775" y="2405267"/>
            <a:ext cx="1110853" cy="204295"/>
          </a:xfrm>
          <a:prstGeom prst="rect">
            <a:avLst/>
          </a:prstGeom>
          <a:noFill/>
          <a:ln/>
        </p:spPr>
        <p:txBody>
          <a:bodyPr wrap="none" lIns="0" tIns="0" rIns="0" bIns="0" rtlCol="0" anchor="t">
            <a:spAutoFit/>
          </a:bodyPr>
          <a:lstStyle/>
          <a:p>
            <a:pPr algn="l" indent="0" marL="0">
              <a:lnSpc>
                <a:spcPts val="1600"/>
              </a:lnSpc>
              <a:buNone/>
            </a:pPr>
            <a:r>
              <a:rPr lang="en-US" sz="1090" b="1" dirty="0">
                <a:solidFill>
                  <a:srgbClr val="0A192F"/>
                </a:solidFill>
                <a:latin typeface="Playfair Display" pitchFamily="34" charset="0"/>
                <a:ea typeface="Playfair Display" pitchFamily="34" charset="-122"/>
                <a:cs typeface="Playfair Display" pitchFamily="34" charset="-120"/>
              </a:rPr>
              <a:t>Cost Reduction</a:t>
            </a:r>
            <a:endParaRPr lang="en-US" sz="1090" dirty="0"/>
          </a:p>
        </p:txBody>
      </p:sp>
      <p:sp>
        <p:nvSpPr>
          <p:cNvPr id="19" name="Text 16"/>
          <p:cNvSpPr/>
          <p:nvPr/>
        </p:nvSpPr>
        <p:spPr>
          <a:xfrm>
            <a:off x="4643438" y="2819605"/>
            <a:ext cx="3929063" cy="182863"/>
          </a:xfrm>
          <a:prstGeom prst="rect">
            <a:avLst/>
          </a:prstGeom>
          <a:noFill/>
          <a:ln/>
        </p:spPr>
        <p:txBody>
          <a:bodyPr wrap="none" lIns="85090" tIns="0"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Reduce R&amp;D costs by automating the patent idea generation process</a:t>
            </a:r>
            <a:endParaRPr lang="en-US" sz="834" dirty="0"/>
          </a:p>
        </p:txBody>
      </p:sp>
      <p:sp>
        <p:nvSpPr>
          <p:cNvPr id="20" name="Shape 17"/>
          <p:cNvSpPr/>
          <p:nvPr/>
        </p:nvSpPr>
        <p:spPr>
          <a:xfrm>
            <a:off x="0" y="3073905"/>
            <a:ext cx="9144000" cy="900447"/>
          </a:xfrm>
          <a:prstGeom prst="rect">
            <a:avLst/>
          </a:prstGeom>
          <a:solidFill>
            <a:srgbClr val="000000">
              <a:alpha val="0"/>
            </a:srgbClr>
          </a:solidFill>
          <a:ln/>
        </p:spPr>
      </p:sp>
      <p:sp>
        <p:nvSpPr>
          <p:cNvPr id="21" name="Shape 18"/>
          <p:cNvSpPr/>
          <p:nvPr/>
        </p:nvSpPr>
        <p:spPr>
          <a:xfrm>
            <a:off x="0" y="3073905"/>
            <a:ext cx="9144000" cy="14288"/>
          </a:xfrm>
          <a:prstGeom prst="rect">
            <a:avLst/>
          </a:prstGeom>
          <a:solidFill>
            <a:srgbClr val="D4AF37"/>
          </a:solidFill>
          <a:ln/>
        </p:spPr>
      </p:sp>
      <p:sp>
        <p:nvSpPr>
          <p:cNvPr id="22" name="Text 19"/>
          <p:cNvSpPr/>
          <p:nvPr/>
        </p:nvSpPr>
        <p:spPr>
          <a:xfrm>
            <a:off x="571500" y="3145343"/>
            <a:ext cx="800100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0A192F"/>
                </a:solidFill>
                <a:latin typeface="Playfair Display" pitchFamily="34" charset="0"/>
                <a:ea typeface="Playfair Display" pitchFamily="34" charset="-122"/>
                <a:cs typeface="Playfair Display" pitchFamily="34" charset="-120"/>
              </a:rPr>
              <a:t>Human Impact</a:t>
            </a:r>
            <a:endParaRPr lang="en-US" sz="1397" dirty="0"/>
          </a:p>
        </p:txBody>
      </p:sp>
      <p:sp>
        <p:nvSpPr>
          <p:cNvPr id="23" name="Text 20"/>
          <p:cNvSpPr/>
          <p:nvPr/>
        </p:nvSpPr>
        <p:spPr>
          <a:xfrm>
            <a:off x="1357313" y="3497173"/>
            <a:ext cx="6429375" cy="462893"/>
          </a:xfrm>
          <a:prstGeom prst="rect">
            <a:avLst/>
          </a:prstGeom>
          <a:noFill/>
          <a:ln/>
        </p:spPr>
        <p:txBody>
          <a:bodyPr wrap="square" lIns="0" tIns="0" rIns="0" bIns="0" rtlCol="0" anchor="t">
            <a:spAutoFit/>
          </a:bodyPr>
          <a:lstStyle/>
          <a:p>
            <a:pPr algn="ctr" indent="0" marL="0">
              <a:lnSpc>
                <a:spcPts val="1800"/>
              </a:lnSpc>
              <a:buNone/>
            </a:pPr>
            <a:r>
              <a:rPr lang="en-US" sz="942" dirty="0">
                <a:solidFill>
                  <a:srgbClr val="333333"/>
                </a:solidFill>
                <a:latin typeface="Lato" pitchFamily="34" charset="0"/>
                <a:ea typeface="Lato" pitchFamily="34" charset="-122"/>
                <a:cs typeface="Lato" pitchFamily="34" charset="-120"/>
              </a:rPr>
              <a:t>Patent Oracle represents a step toward democratizing innovation, empowering researchers and inventors with advanced tools to develop high-quality patents, thereby accelerating technological and scientific progress globally.</a:t>
            </a:r>
            <a:endParaRPr lang="en-US" sz="942"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772781"/>
            <a:ext cx="3786188" cy="960109"/>
          </a:xfrm>
          <a:prstGeom prst="rect">
            <a:avLst/>
          </a:prstGeom>
          <a:noFill/>
          <a:ln/>
        </p:spPr>
        <p:txBody>
          <a:bodyPr wrap="square" lIns="0" tIns="0" rIns="0" bIns="0" rtlCol="0" anchor="t">
            <a:spAutoFit/>
          </a:bodyPr>
          <a:lstStyle/>
          <a:p>
            <a:pPr algn="l"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Interactive Web Platform</a:t>
            </a:r>
            <a:endParaRPr lang="en-US" sz="2862" dirty="0"/>
          </a:p>
        </p:txBody>
      </p:sp>
      <p:sp>
        <p:nvSpPr>
          <p:cNvPr id="4" name="Text 1"/>
          <p:cNvSpPr/>
          <p:nvPr/>
        </p:nvSpPr>
        <p:spPr>
          <a:xfrm>
            <a:off x="735806" y="2182946"/>
            <a:ext cx="1787723"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Modern Design</a:t>
            </a:r>
            <a:endParaRPr lang="en-US" sz="784" dirty="0"/>
          </a:p>
        </p:txBody>
      </p:sp>
      <p:sp>
        <p:nvSpPr>
          <p:cNvPr id="5" name="Text 2"/>
          <p:cNvSpPr/>
          <p:nvPr/>
        </p:nvSpPr>
        <p:spPr>
          <a:xfrm>
            <a:off x="735806" y="2356182"/>
            <a:ext cx="1787723"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Professional and attractive user interface</a:t>
            </a:r>
            <a:endParaRPr lang="en-US" sz="727" dirty="0"/>
          </a:p>
        </p:txBody>
      </p:sp>
      <p:sp>
        <p:nvSpPr>
          <p:cNvPr id="6" name="Text 3"/>
          <p:cNvSpPr/>
          <p:nvPr/>
        </p:nvSpPr>
        <p:spPr>
          <a:xfrm>
            <a:off x="735806" y="2649076"/>
            <a:ext cx="1618059"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Multilingual Support</a:t>
            </a:r>
            <a:endParaRPr lang="en-US" sz="784" dirty="0"/>
          </a:p>
        </p:txBody>
      </p:sp>
      <p:sp>
        <p:nvSpPr>
          <p:cNvPr id="7" name="Text 4"/>
          <p:cNvSpPr/>
          <p:nvPr/>
        </p:nvSpPr>
        <p:spPr>
          <a:xfrm>
            <a:off x="735806" y="2822311"/>
            <a:ext cx="1618059"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English, Arabic, and French languages</a:t>
            </a:r>
            <a:endParaRPr lang="en-US" sz="727" dirty="0"/>
          </a:p>
        </p:txBody>
      </p:sp>
      <p:sp>
        <p:nvSpPr>
          <p:cNvPr id="8" name="Text 5"/>
          <p:cNvSpPr/>
          <p:nvPr/>
        </p:nvSpPr>
        <p:spPr>
          <a:xfrm>
            <a:off x="735806" y="3115205"/>
            <a:ext cx="1734145"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Interactive Charts</a:t>
            </a:r>
            <a:endParaRPr lang="en-US" sz="784" dirty="0"/>
          </a:p>
        </p:txBody>
      </p:sp>
      <p:sp>
        <p:nvSpPr>
          <p:cNvPr id="9" name="Text 6"/>
          <p:cNvSpPr/>
          <p:nvPr/>
        </p:nvSpPr>
        <p:spPr>
          <a:xfrm>
            <a:off x="735806" y="3288441"/>
            <a:ext cx="1734145"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Visual data representation and analytics</a:t>
            </a:r>
            <a:endParaRPr lang="en-US" sz="727" dirty="0"/>
          </a:p>
        </p:txBody>
      </p:sp>
      <p:sp>
        <p:nvSpPr>
          <p:cNvPr id="10" name="Text 7"/>
          <p:cNvSpPr/>
          <p:nvPr/>
        </p:nvSpPr>
        <p:spPr>
          <a:xfrm>
            <a:off x="735806" y="3581335"/>
            <a:ext cx="1746647"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Comprehensive Information</a:t>
            </a:r>
            <a:endParaRPr lang="en-US" sz="784" dirty="0"/>
          </a:p>
        </p:txBody>
      </p:sp>
      <p:sp>
        <p:nvSpPr>
          <p:cNvPr id="11" name="Text 8"/>
          <p:cNvSpPr/>
          <p:nvPr/>
        </p:nvSpPr>
        <p:spPr>
          <a:xfrm>
            <a:off x="735806" y="3754571"/>
            <a:ext cx="1746647"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Complete project and application details</a:t>
            </a:r>
            <a:endParaRPr lang="en-US" sz="727" dirty="0"/>
          </a:p>
        </p:txBody>
      </p:sp>
      <p:sp>
        <p:nvSpPr>
          <p:cNvPr id="12" name="Text 9"/>
          <p:cNvSpPr/>
          <p:nvPr/>
        </p:nvSpPr>
        <p:spPr>
          <a:xfrm>
            <a:off x="735806" y="4047465"/>
            <a:ext cx="1693069" cy="13751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0A192F"/>
                </a:solidFill>
                <a:latin typeface="Lato" pitchFamily="34" charset="0"/>
                <a:ea typeface="Lato" pitchFamily="34" charset="-122"/>
                <a:cs typeface="Lato" pitchFamily="34" charset="-120"/>
              </a:rPr>
              <a:t>Easy Sharing</a:t>
            </a:r>
            <a:endParaRPr lang="en-US" sz="784" dirty="0"/>
          </a:p>
        </p:txBody>
      </p:sp>
      <p:sp>
        <p:nvSpPr>
          <p:cNvPr id="13" name="Text 10"/>
          <p:cNvSpPr/>
          <p:nvPr/>
        </p:nvSpPr>
        <p:spPr>
          <a:xfrm>
            <a:off x="735806" y="4220701"/>
            <a:ext cx="1693069" cy="150019"/>
          </a:xfrm>
          <a:prstGeom prst="rect">
            <a:avLst/>
          </a:prstGeom>
          <a:noFill/>
          <a:ln/>
        </p:spPr>
        <p:txBody>
          <a:bodyPr wrap="none" lIns="0" tIns="0" rIns="0" bIns="0" rtlCol="0" anchor="t">
            <a:spAutoFit/>
          </a:bodyPr>
          <a:lstStyle/>
          <a:p>
            <a:pPr algn="l" indent="0" marL="0">
              <a:lnSpc>
                <a:spcPts val="1200"/>
              </a:lnSpc>
              <a:buNone/>
            </a:pPr>
            <a:r>
              <a:rPr lang="en-US" sz="727" dirty="0">
                <a:solidFill>
                  <a:srgbClr val="666666"/>
                </a:solidFill>
                <a:latin typeface="Lato" pitchFamily="34" charset="0"/>
                <a:ea typeface="Lato" pitchFamily="34" charset="-122"/>
                <a:cs typeface="Lato" pitchFamily="34" charset="-120"/>
              </a:rPr>
              <a:t>Save and share information effortlessly</a:t>
            </a:r>
            <a:endParaRPr lang="en-US" sz="727" dirty="0"/>
          </a:p>
        </p:txBody>
      </p:sp>
      <p:pic>
        <p:nvPicPr>
          <p:cNvPr id="14" name="Image 1" descr="preencoded.png">    </p:cNvPr>
          <p:cNvPicPr>
            <a:picLocks noChangeAspect="1"/>
          </p:cNvPicPr>
          <p:nvPr/>
        </p:nvPicPr>
        <p:blipFill>
          <a:blip r:embed="rId2"/>
          <a:stretch>
            <a:fillRect/>
          </a:stretch>
        </p:blipFill>
        <p:spPr>
          <a:xfrm>
            <a:off x="5193506" y="1085850"/>
            <a:ext cx="2971800" cy="2971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532209"/>
          </a:xfrm>
          <a:prstGeom prst="rect">
            <a:avLst/>
          </a:prstGeom>
          <a:noFill/>
          <a:ln/>
        </p:spPr>
        <p:txBody>
          <a:bodyPr wrap="none" lIns="0" tIns="0" rIns="0" bIns="0" rtlCol="0" anchor="t">
            <a:spAutoFit/>
          </a:bodyPr>
          <a:lstStyle/>
          <a:p>
            <a:pPr algn="ctr" indent="0" marL="0">
              <a:lnSpc>
                <a:spcPts val="3800"/>
              </a:lnSpc>
              <a:buNone/>
            </a:pPr>
            <a:r>
              <a:rPr lang="en-US" sz="2862" b="1" dirty="0">
                <a:solidFill>
                  <a:srgbClr val="0A192F"/>
                </a:solidFill>
                <a:latin typeface="Playfair Display" pitchFamily="34" charset="0"/>
                <a:ea typeface="Playfair Display" pitchFamily="34" charset="-122"/>
                <a:cs typeface="Playfair Display" pitchFamily="34" charset="-120"/>
              </a:rPr>
              <a:t>What's Next?</a:t>
            </a:r>
            <a:endParaRPr lang="en-US" sz="2862" dirty="0"/>
          </a:p>
        </p:txBody>
      </p:sp>
      <p:sp>
        <p:nvSpPr>
          <p:cNvPr id="4" name="Text 1"/>
          <p:cNvSpPr/>
          <p:nvPr/>
        </p:nvSpPr>
        <p:spPr>
          <a:xfrm>
            <a:off x="571500" y="1553766"/>
            <a:ext cx="3857625" cy="119658"/>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999999"/>
                </a:solidFill>
                <a:latin typeface="Lato" pitchFamily="34" charset="0"/>
                <a:ea typeface="Lato" pitchFamily="34" charset="-122"/>
                <a:cs typeface="Lato" pitchFamily="34" charset="-120"/>
              </a:rPr>
              <a:t>NEXT STEPS</a:t>
            </a:r>
            <a:endParaRPr lang="en-US" sz="727" dirty="0"/>
          </a:p>
        </p:txBody>
      </p:sp>
      <p:sp>
        <p:nvSpPr>
          <p:cNvPr id="5" name="Text 2"/>
          <p:cNvSpPr/>
          <p:nvPr/>
        </p:nvSpPr>
        <p:spPr>
          <a:xfrm>
            <a:off x="571500" y="1816298"/>
            <a:ext cx="28575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1</a:t>
            </a:r>
            <a:endParaRPr lang="en-US" sz="1397" dirty="0"/>
          </a:p>
        </p:txBody>
      </p:sp>
      <p:sp>
        <p:nvSpPr>
          <p:cNvPr id="6" name="Text 3"/>
          <p:cNvSpPr/>
          <p:nvPr/>
        </p:nvSpPr>
        <p:spPr>
          <a:xfrm>
            <a:off x="942975" y="1816298"/>
            <a:ext cx="1734145" cy="197151"/>
          </a:xfrm>
          <a:prstGeom prst="rect">
            <a:avLst/>
          </a:prstGeom>
          <a:noFill/>
          <a:ln/>
        </p:spPr>
        <p:txBody>
          <a:bodyPr wrap="none" lIns="0" tIns="17018"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Submit formal application to INAPI</a:t>
            </a:r>
            <a:endParaRPr lang="en-US" sz="834" dirty="0"/>
          </a:p>
        </p:txBody>
      </p:sp>
      <p:sp>
        <p:nvSpPr>
          <p:cNvPr id="7" name="Text 4"/>
          <p:cNvSpPr/>
          <p:nvPr/>
        </p:nvSpPr>
        <p:spPr>
          <a:xfrm>
            <a:off x="571500" y="2168128"/>
            <a:ext cx="28575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2</a:t>
            </a:r>
            <a:endParaRPr lang="en-US" sz="1397" dirty="0"/>
          </a:p>
        </p:txBody>
      </p:sp>
      <p:sp>
        <p:nvSpPr>
          <p:cNvPr id="8" name="Text 5"/>
          <p:cNvSpPr/>
          <p:nvPr/>
        </p:nvSpPr>
        <p:spPr>
          <a:xfrm>
            <a:off x="942975" y="2168128"/>
            <a:ext cx="2386013" cy="197151"/>
          </a:xfrm>
          <a:prstGeom prst="rect">
            <a:avLst/>
          </a:prstGeom>
          <a:noFill/>
          <a:ln/>
        </p:spPr>
        <p:txBody>
          <a:bodyPr wrap="none" lIns="0" tIns="17018"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Await verification and approval from authorities</a:t>
            </a:r>
            <a:endParaRPr lang="en-US" sz="834" dirty="0"/>
          </a:p>
        </p:txBody>
      </p:sp>
      <p:sp>
        <p:nvSpPr>
          <p:cNvPr id="9" name="Text 6"/>
          <p:cNvSpPr/>
          <p:nvPr/>
        </p:nvSpPr>
        <p:spPr>
          <a:xfrm>
            <a:off x="571500" y="2519958"/>
            <a:ext cx="28575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3</a:t>
            </a:r>
            <a:endParaRPr lang="en-US" sz="1397" dirty="0"/>
          </a:p>
        </p:txBody>
      </p:sp>
      <p:sp>
        <p:nvSpPr>
          <p:cNvPr id="10" name="Text 7"/>
          <p:cNvSpPr/>
          <p:nvPr/>
        </p:nvSpPr>
        <p:spPr>
          <a:xfrm>
            <a:off x="942975" y="2519958"/>
            <a:ext cx="2014538" cy="197151"/>
          </a:xfrm>
          <a:prstGeom prst="rect">
            <a:avLst/>
          </a:prstGeom>
          <a:noFill/>
          <a:ln/>
        </p:spPr>
        <p:txBody>
          <a:bodyPr wrap="none" lIns="0" tIns="17018"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Develop enhanced version of the system</a:t>
            </a:r>
            <a:endParaRPr lang="en-US" sz="834" dirty="0"/>
          </a:p>
        </p:txBody>
      </p:sp>
      <p:sp>
        <p:nvSpPr>
          <p:cNvPr id="11" name="Text 8"/>
          <p:cNvSpPr/>
          <p:nvPr/>
        </p:nvSpPr>
        <p:spPr>
          <a:xfrm>
            <a:off x="571500" y="2871788"/>
            <a:ext cx="28575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4</a:t>
            </a:r>
            <a:endParaRPr lang="en-US" sz="1397" dirty="0"/>
          </a:p>
        </p:txBody>
      </p:sp>
      <p:sp>
        <p:nvSpPr>
          <p:cNvPr id="12" name="Text 9"/>
          <p:cNvSpPr/>
          <p:nvPr/>
        </p:nvSpPr>
        <p:spPr>
          <a:xfrm>
            <a:off x="942975" y="2871788"/>
            <a:ext cx="1823442" cy="197151"/>
          </a:xfrm>
          <a:prstGeom prst="rect">
            <a:avLst/>
          </a:prstGeom>
          <a:noFill/>
          <a:ln/>
        </p:spPr>
        <p:txBody>
          <a:bodyPr wrap="none" lIns="0" tIns="17018"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Expand supported scientific domains</a:t>
            </a:r>
            <a:endParaRPr lang="en-US" sz="834" dirty="0"/>
          </a:p>
        </p:txBody>
      </p:sp>
      <p:sp>
        <p:nvSpPr>
          <p:cNvPr id="13" name="Text 10"/>
          <p:cNvSpPr/>
          <p:nvPr/>
        </p:nvSpPr>
        <p:spPr>
          <a:xfrm>
            <a:off x="571500" y="3223617"/>
            <a:ext cx="285750" cy="266105"/>
          </a:xfrm>
          <a:prstGeom prst="rect">
            <a:avLst/>
          </a:prstGeom>
          <a:noFill/>
          <a:ln/>
        </p:spPr>
        <p:txBody>
          <a:bodyPr wrap="none" lIns="0" tIns="0" rIns="0" bIns="0" rtlCol="0" anchor="t">
            <a:spAutoFit/>
          </a:bodyPr>
          <a:lstStyle/>
          <a:p>
            <a:pPr algn="ctr" indent="0" marL="0">
              <a:lnSpc>
                <a:spcPts val="1900"/>
              </a:lnSpc>
              <a:buNone/>
            </a:pPr>
            <a:r>
              <a:rPr lang="en-US" sz="1397" b="1" dirty="0">
                <a:solidFill>
                  <a:srgbClr val="D4AF37"/>
                </a:solidFill>
                <a:latin typeface="Playfair Display" pitchFamily="34" charset="0"/>
                <a:ea typeface="Playfair Display" pitchFamily="34" charset="-122"/>
                <a:cs typeface="Playfair Display" pitchFamily="34" charset="-120"/>
              </a:rPr>
              <a:t>5</a:t>
            </a:r>
            <a:endParaRPr lang="en-US" sz="1397" dirty="0"/>
          </a:p>
        </p:txBody>
      </p:sp>
      <p:sp>
        <p:nvSpPr>
          <p:cNvPr id="14" name="Text 11"/>
          <p:cNvSpPr/>
          <p:nvPr/>
        </p:nvSpPr>
        <p:spPr>
          <a:xfrm>
            <a:off x="942975" y="3223617"/>
            <a:ext cx="2271713" cy="197151"/>
          </a:xfrm>
          <a:prstGeom prst="rect">
            <a:avLst/>
          </a:prstGeom>
          <a:noFill/>
          <a:ln/>
        </p:spPr>
        <p:txBody>
          <a:bodyPr wrap="none" lIns="0" tIns="17018" rIns="0" bIns="0" rtlCol="0" anchor="t">
            <a:spAutoFit/>
          </a:bodyPr>
          <a:lstStyle/>
          <a:p>
            <a:pPr algn="l" indent="0" marL="0">
              <a:lnSpc>
                <a:spcPts val="1400"/>
              </a:lnSpc>
              <a:buNone/>
            </a:pPr>
            <a:r>
              <a:rPr lang="en-US" sz="834" dirty="0">
                <a:solidFill>
                  <a:srgbClr val="333333"/>
                </a:solidFill>
                <a:latin typeface="Lato" pitchFamily="34" charset="0"/>
                <a:ea typeface="Lato" pitchFamily="34" charset="-122"/>
                <a:cs typeface="Lato" pitchFamily="34" charset="-120"/>
              </a:rPr>
              <a:t>Release system for public and commercial use</a:t>
            </a:r>
            <a:endParaRPr lang="en-US" sz="834" dirty="0"/>
          </a:p>
        </p:txBody>
      </p:sp>
      <p:sp>
        <p:nvSpPr>
          <p:cNvPr id="15" name="Text 12"/>
          <p:cNvSpPr/>
          <p:nvPr/>
        </p:nvSpPr>
        <p:spPr>
          <a:xfrm>
            <a:off x="4714875" y="1553766"/>
            <a:ext cx="3857625" cy="119658"/>
          </a:xfrm>
          <a:prstGeom prst="rect">
            <a:avLst/>
          </a:prstGeom>
          <a:noFill/>
          <a:ln/>
        </p:spPr>
        <p:txBody>
          <a:bodyPr wrap="none" lIns="0" tIns="0" rIns="0" bIns="0" rtlCol="0" anchor="t">
            <a:spAutoFit/>
          </a:bodyPr>
          <a:lstStyle/>
          <a:p>
            <a:pPr algn="l" indent="0" marL="0">
              <a:lnSpc>
                <a:spcPts val="900"/>
              </a:lnSpc>
              <a:buNone/>
            </a:pPr>
            <a:r>
              <a:rPr lang="en-US" sz="727" spc="2" kern="0" dirty="0">
                <a:solidFill>
                  <a:srgbClr val="999999"/>
                </a:solidFill>
                <a:latin typeface="Lato" pitchFamily="34" charset="0"/>
                <a:ea typeface="Lato" pitchFamily="34" charset="-122"/>
                <a:cs typeface="Lato" pitchFamily="34" charset="-120"/>
              </a:rPr>
              <a:t>CONTACT INFORMATION</a:t>
            </a:r>
            <a:endParaRPr lang="en-US" sz="727" dirty="0"/>
          </a:p>
        </p:txBody>
      </p:sp>
      <p:sp>
        <p:nvSpPr>
          <p:cNvPr id="16" name="Text 13"/>
          <p:cNvSpPr/>
          <p:nvPr/>
        </p:nvSpPr>
        <p:spPr>
          <a:xfrm>
            <a:off x="4714875" y="1816298"/>
            <a:ext cx="3857625" cy="101798"/>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99999"/>
                </a:solidFill>
                <a:latin typeface="Lato" pitchFamily="34" charset="0"/>
                <a:ea typeface="Lato" pitchFamily="34" charset="-122"/>
                <a:cs typeface="Lato" pitchFamily="34" charset="-120"/>
              </a:rPr>
              <a:t>NAME</a:t>
            </a:r>
            <a:endParaRPr lang="en-US" sz="621" dirty="0"/>
          </a:p>
        </p:txBody>
      </p:sp>
      <p:sp>
        <p:nvSpPr>
          <p:cNvPr id="17" name="Text 14"/>
          <p:cNvSpPr/>
          <p:nvPr/>
        </p:nvSpPr>
        <p:spPr>
          <a:xfrm>
            <a:off x="4714875" y="1953816"/>
            <a:ext cx="3857625"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Benlehlali Mohand Amine</a:t>
            </a:r>
            <a:endParaRPr lang="en-US" sz="885" dirty="0"/>
          </a:p>
        </p:txBody>
      </p:sp>
      <p:sp>
        <p:nvSpPr>
          <p:cNvPr id="18" name="Text 15"/>
          <p:cNvSpPr/>
          <p:nvPr/>
        </p:nvSpPr>
        <p:spPr>
          <a:xfrm>
            <a:off x="4714875" y="2196703"/>
            <a:ext cx="3857625" cy="101798"/>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99999"/>
                </a:solidFill>
                <a:latin typeface="Lato" pitchFamily="34" charset="0"/>
                <a:ea typeface="Lato" pitchFamily="34" charset="-122"/>
                <a:cs typeface="Lato" pitchFamily="34" charset="-120"/>
              </a:rPr>
              <a:t>PHONE</a:t>
            </a:r>
            <a:endParaRPr lang="en-US" sz="621" dirty="0"/>
          </a:p>
        </p:txBody>
      </p:sp>
      <p:sp>
        <p:nvSpPr>
          <p:cNvPr id="19" name="Text 16"/>
          <p:cNvSpPr/>
          <p:nvPr/>
        </p:nvSpPr>
        <p:spPr>
          <a:xfrm>
            <a:off x="4714875" y="2334220"/>
            <a:ext cx="3857625"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+213 659 45 45 73</a:t>
            </a:r>
            <a:endParaRPr lang="en-US" sz="885" dirty="0"/>
          </a:p>
        </p:txBody>
      </p:sp>
      <p:sp>
        <p:nvSpPr>
          <p:cNvPr id="20" name="Text 17"/>
          <p:cNvSpPr/>
          <p:nvPr/>
        </p:nvSpPr>
        <p:spPr>
          <a:xfrm>
            <a:off x="4714875" y="2577108"/>
            <a:ext cx="3857625" cy="101798"/>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99999"/>
                </a:solidFill>
                <a:latin typeface="Lato" pitchFamily="34" charset="0"/>
                <a:ea typeface="Lato" pitchFamily="34" charset="-122"/>
                <a:cs typeface="Lato" pitchFamily="34" charset="-120"/>
              </a:rPr>
              <a:t>LOCATION</a:t>
            </a:r>
            <a:endParaRPr lang="en-US" sz="621" dirty="0"/>
          </a:p>
        </p:txBody>
      </p:sp>
      <p:sp>
        <p:nvSpPr>
          <p:cNvPr id="21" name="Text 18"/>
          <p:cNvSpPr/>
          <p:nvPr/>
        </p:nvSpPr>
        <p:spPr>
          <a:xfrm>
            <a:off x="4714875" y="2714625"/>
            <a:ext cx="3857625"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Tlemcen, Algeria</a:t>
            </a:r>
            <a:endParaRPr lang="en-US" sz="885" dirty="0"/>
          </a:p>
        </p:txBody>
      </p:sp>
      <p:sp>
        <p:nvSpPr>
          <p:cNvPr id="22" name="Text 19"/>
          <p:cNvSpPr/>
          <p:nvPr/>
        </p:nvSpPr>
        <p:spPr>
          <a:xfrm>
            <a:off x="4714875" y="2957513"/>
            <a:ext cx="3857625" cy="101798"/>
          </a:xfrm>
          <a:prstGeom prst="rect">
            <a:avLst/>
          </a:prstGeom>
          <a:noFill/>
          <a:ln/>
        </p:spPr>
        <p:txBody>
          <a:bodyPr wrap="none" lIns="0" tIns="0" rIns="0" bIns="0" rtlCol="0" anchor="t">
            <a:spAutoFit/>
          </a:bodyPr>
          <a:lstStyle/>
          <a:p>
            <a:pPr algn="l" indent="0" marL="0">
              <a:lnSpc>
                <a:spcPts val="800"/>
              </a:lnSpc>
              <a:buNone/>
            </a:pPr>
            <a:r>
              <a:rPr lang="en-US" sz="621" spc="1" kern="0" dirty="0">
                <a:solidFill>
                  <a:srgbClr val="999999"/>
                </a:solidFill>
                <a:latin typeface="Lato" pitchFamily="34" charset="0"/>
                <a:ea typeface="Lato" pitchFamily="34" charset="-122"/>
                <a:cs typeface="Lato" pitchFamily="34" charset="-120"/>
              </a:rPr>
              <a:t>PROJECT</a:t>
            </a:r>
            <a:endParaRPr lang="en-US" sz="621" dirty="0"/>
          </a:p>
        </p:txBody>
      </p:sp>
      <p:sp>
        <p:nvSpPr>
          <p:cNvPr id="23" name="Text 20"/>
          <p:cNvSpPr/>
          <p:nvPr/>
        </p:nvSpPr>
        <p:spPr>
          <a:xfrm>
            <a:off x="4714875" y="3095030"/>
            <a:ext cx="3857625" cy="171450"/>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A192F"/>
                </a:solidFill>
                <a:latin typeface="Playfair Display" pitchFamily="34" charset="0"/>
                <a:ea typeface="Playfair Display" pitchFamily="34" charset="-122"/>
                <a:cs typeface="Playfair Display" pitchFamily="34" charset="-120"/>
              </a:rPr>
              <a:t>Patent Oracle ⚛️</a:t>
            </a:r>
            <a:endParaRPr lang="en-US" sz="885" dirty="0"/>
          </a:p>
        </p:txBody>
      </p:sp>
      <p:sp>
        <p:nvSpPr>
          <p:cNvPr id="24" name="Text 21"/>
          <p:cNvSpPr/>
          <p:nvPr/>
        </p:nvSpPr>
        <p:spPr>
          <a:xfrm>
            <a:off x="4714875" y="3395067"/>
            <a:ext cx="3857625" cy="388609"/>
          </a:xfrm>
          <a:prstGeom prst="rect">
            <a:avLst/>
          </a:prstGeom>
          <a:noFill/>
          <a:ln/>
        </p:spPr>
        <p:txBody>
          <a:bodyPr wrap="square" lIns="0" tIns="0" rIns="0" bIns="0" rtlCol="0" anchor="t">
            <a:spAutoFit/>
          </a:bodyPr>
          <a:lstStyle/>
          <a:p>
            <a:pPr algn="ctr" indent="0" marL="0">
              <a:lnSpc>
                <a:spcPts val="1500"/>
              </a:lnSpc>
              <a:buNone/>
            </a:pPr>
            <a:r>
              <a:rPr lang="en-US" sz="834" dirty="0">
                <a:solidFill>
                  <a:srgbClr val="333333"/>
                </a:solidFill>
                <a:latin typeface="Lato" pitchFamily="34" charset="0"/>
                <a:ea typeface="Lato" pitchFamily="34" charset="-122"/>
                <a:cs typeface="Lato" pitchFamily="34" charset="-120"/>
              </a:rPr>
              <a:t>Thank you for your interest in Patent Oracle. We look forward to collaboration and continued innovation.</a:t>
            </a:r>
            <a:endParaRPr lang="en-US" sz="834" dirty="0"/>
          </a:p>
        </p:txBody>
      </p:sp>
      <p:sp>
        <p:nvSpPr>
          <p:cNvPr id="25" name="Text 22"/>
          <p:cNvSpPr/>
          <p:nvPr/>
        </p:nvSpPr>
        <p:spPr>
          <a:xfrm>
            <a:off x="4714875" y="3890832"/>
            <a:ext cx="3857625" cy="228600"/>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D4AF37"/>
                </a:solidFill>
                <a:latin typeface="Playfair Display" pitchFamily="34" charset="0"/>
                <a:ea typeface="Playfair Display" pitchFamily="34" charset="-122"/>
                <a:cs typeface="Playfair Display" pitchFamily="34" charset="-120"/>
              </a:rPr>
              <a:t>Patent Oracle ⚛️</a:t>
            </a:r>
            <a:endParaRPr lang="en-US" sz="119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2026-03-08T23:16:50Z</dcterms:created>
  <dcterms:modified xsi:type="dcterms:W3CDTF">2026-03-08T23:16:50Z</dcterms:modified>
</cp:coreProperties>
</file>