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jpe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jpe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714875" y="1160162"/>
            <a:ext cx="3857625" cy="1234418"/>
          </a:xfrm>
          <a:prstGeom prst="rect">
            <a:avLst/>
          </a:prstGeom>
          <a:noFill/>
          <a:ln/>
        </p:spPr>
        <p:txBody>
          <a:bodyPr wrap="square" lIns="0" tIns="0" rIns="0" bIns="0" rtlCol="0" anchor="t">
            <a:spAutoFit/>
          </a:bodyPr>
          <a:lstStyle/>
          <a:p>
            <a:pPr algn="l" indent="0" marL="0">
              <a:lnSpc>
                <a:spcPts val="4900"/>
              </a:lnSpc>
              <a:buNone/>
            </a:pPr>
            <a:r>
              <a:rPr lang="en-US" sz="3731" b="1" dirty="0">
                <a:solidFill>
                  <a:srgbClr val="0A192F"/>
                </a:solidFill>
                <a:latin typeface="Playfair Display" pitchFamily="34" charset="0"/>
                <a:ea typeface="Playfair Display" pitchFamily="34" charset="-122"/>
                <a:cs typeface="Playfair Display" pitchFamily="34" charset="-120"/>
              </a:rPr>
              <a:t>Patent Oracle ⚛️</a:t>
            </a:r>
            <a:endParaRPr lang="en-US" sz="3731" dirty="0"/>
          </a:p>
        </p:txBody>
      </p:sp>
      <p:sp>
        <p:nvSpPr>
          <p:cNvPr id="4" name="Text 1"/>
          <p:cNvSpPr/>
          <p:nvPr/>
        </p:nvSpPr>
        <p:spPr>
          <a:xfrm>
            <a:off x="4714875" y="3423279"/>
            <a:ext cx="3857625" cy="560059"/>
          </a:xfrm>
          <a:prstGeom prst="rect">
            <a:avLst/>
          </a:prstGeom>
          <a:noFill/>
          <a:ln/>
        </p:spPr>
        <p:txBody>
          <a:bodyPr wrap="square" lIns="0" tIns="0" rIns="0" bIns="0" rtlCol="0" anchor="t">
            <a:spAutoFit/>
          </a:bodyPr>
          <a:lstStyle/>
          <a:p>
            <a:pPr algn="l" indent="0" marL="0">
              <a:lnSpc>
                <a:spcPts val="2200"/>
              </a:lnSpc>
              <a:buNone/>
            </a:pPr>
            <a:r>
              <a:rPr lang="en-US" sz="1486" dirty="0">
                <a:solidFill>
                  <a:srgbClr val="333333"/>
                </a:solidFill>
                <a:latin typeface="Lato" pitchFamily="34" charset="0"/>
                <a:ea typeface="Lato" pitchFamily="34" charset="-122"/>
                <a:cs typeface="Lato" pitchFamily="34" charset="-120"/>
              </a:rPr>
              <a:t>منصة براءات الاختراع المدعومة بالذكاء الاصطناعي</a:t>
            </a:r>
            <a:endParaRPr lang="en-US" sz="1486" dirty="0"/>
          </a:p>
        </p:txBody>
      </p:sp>
      <p:sp>
        <p:nvSpPr>
          <p:cNvPr id="5" name="Text 2"/>
          <p:cNvSpPr/>
          <p:nvPr/>
        </p:nvSpPr>
        <p:spPr>
          <a:xfrm>
            <a:off x="571500" y="1809155"/>
            <a:ext cx="1866305" cy="121444"/>
          </a:xfrm>
          <a:prstGeom prst="rect">
            <a:avLst/>
          </a:prstGeom>
          <a:noFill/>
          <a:ln/>
        </p:spPr>
        <p:txBody>
          <a:bodyPr wrap="none" lIns="0" tIns="0" rIns="0" bIns="0" rtlCol="0" anchor="t">
            <a:spAutoFit/>
          </a:bodyPr>
          <a:lstStyle/>
          <a:p>
            <a:pPr algn="r" indent="0" marL="0">
              <a:lnSpc>
                <a:spcPts val="900"/>
              </a:lnSpc>
              <a:buNone/>
            </a:pPr>
            <a:r>
              <a:rPr lang="en-US" sz="727" spc="2" kern="0" dirty="0">
                <a:solidFill>
                  <a:srgbClr val="999999"/>
                </a:solidFill>
                <a:latin typeface="Lato" pitchFamily="34" charset="0"/>
                <a:ea typeface="Lato" pitchFamily="34" charset="-122"/>
                <a:cs typeface="Lato" pitchFamily="34" charset="-120"/>
              </a:rPr>
              <a:t>المقدم</a:t>
            </a:r>
            <a:endParaRPr lang="en-US" sz="727" dirty="0"/>
          </a:p>
        </p:txBody>
      </p:sp>
      <p:sp>
        <p:nvSpPr>
          <p:cNvPr id="6" name="Text 3"/>
          <p:cNvSpPr/>
          <p:nvPr/>
        </p:nvSpPr>
        <p:spPr>
          <a:xfrm>
            <a:off x="571500" y="1987748"/>
            <a:ext cx="1866305" cy="303609"/>
          </a:xfrm>
          <a:prstGeom prst="rect">
            <a:avLst/>
          </a:prstGeom>
          <a:noFill/>
          <a:ln/>
        </p:spPr>
        <p:txBody>
          <a:bodyPr wrap="none" lIns="0" tIns="0" rIns="0" bIns="0" rtlCol="0" anchor="t">
            <a:spAutoFit/>
          </a:bodyPr>
          <a:lstStyle/>
          <a:p>
            <a:pPr algn="r" indent="0" marL="0">
              <a:lnSpc>
                <a:spcPts val="2200"/>
              </a:lnSpc>
              <a:buNone/>
            </a:pPr>
            <a:r>
              <a:rPr lang="en-US" sz="1602" b="1" dirty="0">
                <a:solidFill>
                  <a:srgbClr val="0A192F"/>
                </a:solidFill>
                <a:latin typeface="Playfair Display" pitchFamily="34" charset="0"/>
                <a:ea typeface="Playfair Display" pitchFamily="34" charset="-122"/>
                <a:cs typeface="Playfair Display" pitchFamily="34" charset="-120"/>
              </a:rPr>
              <a:t>بن لعلالي محند أمين</a:t>
            </a:r>
            <a:endParaRPr lang="en-US" sz="1602" dirty="0"/>
          </a:p>
        </p:txBody>
      </p:sp>
      <p:sp>
        <p:nvSpPr>
          <p:cNvPr id="7" name="Text 4"/>
          <p:cNvSpPr/>
          <p:nvPr/>
        </p:nvSpPr>
        <p:spPr>
          <a:xfrm>
            <a:off x="571500" y="2362795"/>
            <a:ext cx="1866305" cy="139303"/>
          </a:xfrm>
          <a:prstGeom prst="rect">
            <a:avLst/>
          </a:prstGeom>
          <a:noFill/>
          <a:ln/>
        </p:spPr>
        <p:txBody>
          <a:bodyPr wrap="none" lIns="0" tIns="0" rIns="0" bIns="0" rtlCol="0" anchor="t">
            <a:spAutoFit/>
          </a:bodyPr>
          <a:lstStyle/>
          <a:p>
            <a:pPr algn="r" indent="0" marL="0">
              <a:lnSpc>
                <a:spcPts val="1100"/>
              </a:lnSpc>
              <a:buNone/>
            </a:pPr>
            <a:r>
              <a:rPr lang="en-US" sz="834" dirty="0">
                <a:solidFill>
                  <a:srgbClr val="333333"/>
                </a:solidFill>
                <a:latin typeface="Lato" pitchFamily="34" charset="0"/>
                <a:ea typeface="Lato" pitchFamily="34" charset="-122"/>
                <a:cs typeface="Lato" pitchFamily="34" charset="-120"/>
              </a:rPr>
              <a:t>تلمسان، الجزائر</a:t>
            </a:r>
            <a:endParaRPr lang="en-US" sz="834" dirty="0"/>
          </a:p>
        </p:txBody>
      </p:sp>
      <p:sp>
        <p:nvSpPr>
          <p:cNvPr id="8" name="Text 5"/>
          <p:cNvSpPr/>
          <p:nvPr/>
        </p:nvSpPr>
        <p:spPr>
          <a:xfrm>
            <a:off x="571500" y="2945011"/>
            <a:ext cx="1103709" cy="103584"/>
          </a:xfrm>
          <a:prstGeom prst="rect">
            <a:avLst/>
          </a:prstGeom>
          <a:noFill/>
          <a:ln/>
        </p:spPr>
        <p:txBody>
          <a:bodyPr wrap="none" lIns="0" tIns="0" rIns="0" bIns="0" rtlCol="0" anchor="t">
            <a:spAutoFit/>
          </a:bodyPr>
          <a:lstStyle/>
          <a:p>
            <a:pPr algn="r" indent="0" marL="0">
              <a:lnSpc>
                <a:spcPts val="800"/>
              </a:lnSpc>
              <a:buNone/>
            </a:pPr>
            <a:r>
              <a:rPr lang="en-US" sz="621" spc="1" kern="0" dirty="0">
                <a:solidFill>
                  <a:srgbClr val="999999"/>
                </a:solidFill>
                <a:latin typeface="Lato" pitchFamily="34" charset="0"/>
                <a:ea typeface="Lato" pitchFamily="34" charset="-122"/>
                <a:cs typeface="Lato" pitchFamily="34" charset="-120"/>
              </a:rPr>
              <a:t>التاريخ</a:t>
            </a:r>
            <a:endParaRPr lang="en-US" sz="621" dirty="0"/>
          </a:p>
        </p:txBody>
      </p:sp>
      <p:sp>
        <p:nvSpPr>
          <p:cNvPr id="9" name="Text 6"/>
          <p:cNvSpPr/>
          <p:nvPr/>
        </p:nvSpPr>
        <p:spPr>
          <a:xfrm>
            <a:off x="571500" y="3105745"/>
            <a:ext cx="1103709" cy="228600"/>
          </a:xfrm>
          <a:prstGeom prst="rect">
            <a:avLst/>
          </a:prstGeom>
          <a:noFill/>
          <a:ln/>
        </p:spPr>
        <p:txBody>
          <a:bodyPr wrap="none" lIns="0" tIns="0" rIns="0" bIns="0" rtlCol="0" anchor="t">
            <a:spAutoFit/>
          </a:bodyPr>
          <a:lstStyle/>
          <a:p>
            <a:pPr algn="r" indent="0" marL="0">
              <a:lnSpc>
                <a:spcPts val="1600"/>
              </a:lnSpc>
              <a:buNone/>
            </a:pPr>
            <a:r>
              <a:rPr lang="en-US" sz="1193" b="1" dirty="0">
                <a:solidFill>
                  <a:srgbClr val="0A192F"/>
                </a:solidFill>
                <a:latin typeface="Playfair Display" pitchFamily="34" charset="0"/>
                <a:ea typeface="Playfair Display" pitchFamily="34" charset="-122"/>
                <a:cs typeface="Playfair Display" pitchFamily="34" charset="-120"/>
              </a:rPr>
              <a:t>09 مارس 2026</a:t>
            </a:r>
            <a:endParaRPr lang="en-US" sz="1193"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786313" y="1500913"/>
            <a:ext cx="3786188" cy="480054"/>
          </a:xfrm>
          <a:prstGeom prst="rect">
            <a:avLst/>
          </a:prstGeom>
          <a:noFill/>
          <a:ln/>
        </p:spPr>
        <p:txBody>
          <a:bodyPr wrap="none" lIns="0" tIns="0" rIns="0" bIns="0" rtlCol="0" anchor="t">
            <a:spAutoFit/>
          </a:bodyPr>
          <a:lstStyle/>
          <a:p>
            <a:pPr algn="l" indent="0" marL="0">
              <a:lnSpc>
                <a:spcPts val="3800"/>
              </a:lnSpc>
              <a:buNone/>
            </a:pPr>
            <a:r>
              <a:rPr lang="en-US" sz="2862" b="1" dirty="0">
                <a:solidFill>
                  <a:srgbClr val="0A192F"/>
                </a:solidFill>
                <a:latin typeface="Playfair Display" pitchFamily="34" charset="0"/>
                <a:ea typeface="Playfair Display" pitchFamily="34" charset="-122"/>
                <a:cs typeface="Playfair Display" pitchFamily="34" charset="-120"/>
              </a:rPr>
              <a:t>ما هو Patent Oracle؟</a:t>
            </a:r>
            <a:endParaRPr lang="en-US" sz="2862" dirty="0"/>
          </a:p>
        </p:txBody>
      </p:sp>
      <p:sp>
        <p:nvSpPr>
          <p:cNvPr id="4" name="Text 1"/>
          <p:cNvSpPr/>
          <p:nvPr/>
        </p:nvSpPr>
        <p:spPr>
          <a:xfrm>
            <a:off x="4786313" y="2431024"/>
            <a:ext cx="3786188" cy="925785"/>
          </a:xfrm>
          <a:prstGeom prst="rect">
            <a:avLst/>
          </a:prstGeom>
          <a:noFill/>
          <a:ln/>
        </p:spPr>
        <p:txBody>
          <a:bodyPr wrap="square" lIns="0" tIns="0" rIns="0" bIns="0" rtlCol="0" anchor="t">
            <a:spAutoFit/>
          </a:bodyPr>
          <a:lstStyle/>
          <a:p>
            <a:pPr algn="l" indent="0" marL="0">
              <a:lnSpc>
                <a:spcPts val="1800"/>
              </a:lnSpc>
              <a:buNone/>
            </a:pPr>
            <a:r>
              <a:rPr lang="en-US" sz="942" dirty="0">
                <a:solidFill>
                  <a:srgbClr val="333333"/>
                </a:solidFill>
                <a:latin typeface="Lato" pitchFamily="34" charset="0"/>
                <a:ea typeface="Lato" pitchFamily="34" charset="-122"/>
                <a:cs typeface="Lato" pitchFamily="34" charset="-120"/>
              </a:rPr>
              <a:t>Patent Oracle هو نظام متقدم يستخدم الذكاء الاصطناعي لتوليد أفكار براءات اختراع غير مسبوقة. يقوم النظام بدمج ثلاثة مجالات علمية مختلفة لابتكار مفاهيم تقنية جديدة، مع التحقق من جدتها عبر قاعدة بيانات المكتب الأوروبي لبراءات الاختراع (EPO).</a:t>
            </a:r>
            <a:endParaRPr lang="en-US" sz="942" dirty="0"/>
          </a:p>
        </p:txBody>
      </p:sp>
      <p:sp>
        <p:nvSpPr>
          <p:cNvPr id="5" name="Text 2"/>
          <p:cNvSpPr/>
          <p:nvPr/>
        </p:nvSpPr>
        <p:spPr>
          <a:xfrm>
            <a:off x="571500" y="1534511"/>
            <a:ext cx="3614738" cy="103584"/>
          </a:xfrm>
          <a:prstGeom prst="rect">
            <a:avLst/>
          </a:prstGeom>
          <a:noFill/>
          <a:ln/>
        </p:spPr>
        <p:txBody>
          <a:bodyPr wrap="none" lIns="0" tIns="0" rIns="0" bIns="0" rtlCol="0" anchor="t">
            <a:spAutoFit/>
          </a:bodyPr>
          <a:lstStyle/>
          <a:p>
            <a:pPr algn="l" indent="0" marL="0">
              <a:lnSpc>
                <a:spcPts val="800"/>
              </a:lnSpc>
              <a:buNone/>
            </a:pPr>
            <a:r>
              <a:rPr lang="en-US" sz="621" spc="2" kern="0" dirty="0">
                <a:solidFill>
                  <a:srgbClr val="999999"/>
                </a:solidFill>
                <a:latin typeface="Lato" pitchFamily="34" charset="0"/>
                <a:ea typeface="Lato" pitchFamily="34" charset="-122"/>
                <a:cs typeface="Lato" pitchFamily="34" charset="-120"/>
              </a:rPr>
              <a:t>الهدف الرئيسي</a:t>
            </a:r>
            <a:endParaRPr lang="en-US" sz="621" dirty="0"/>
          </a:p>
        </p:txBody>
      </p:sp>
      <p:sp>
        <p:nvSpPr>
          <p:cNvPr id="6" name="Text 3"/>
          <p:cNvSpPr/>
          <p:nvPr/>
        </p:nvSpPr>
        <p:spPr>
          <a:xfrm>
            <a:off x="571500" y="1709533"/>
            <a:ext cx="3614738" cy="182863"/>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0A192F"/>
                </a:solidFill>
                <a:latin typeface="Lato" pitchFamily="34" charset="0"/>
                <a:ea typeface="Lato" pitchFamily="34" charset="-122"/>
                <a:cs typeface="Lato" pitchFamily="34" charset="-120"/>
              </a:rPr>
              <a:t>تسريع عملية الابتكار وتوليد براءات اختراع عالية الجودة</a:t>
            </a:r>
            <a:endParaRPr lang="en-US" sz="784" dirty="0"/>
          </a:p>
        </p:txBody>
      </p:sp>
      <p:sp>
        <p:nvSpPr>
          <p:cNvPr id="7" name="Text 4"/>
          <p:cNvSpPr/>
          <p:nvPr/>
        </p:nvSpPr>
        <p:spPr>
          <a:xfrm>
            <a:off x="571500" y="2106709"/>
            <a:ext cx="3614738" cy="103584"/>
          </a:xfrm>
          <a:prstGeom prst="rect">
            <a:avLst/>
          </a:prstGeom>
          <a:noFill/>
          <a:ln/>
        </p:spPr>
        <p:txBody>
          <a:bodyPr wrap="none" lIns="0" tIns="0" rIns="0" bIns="0" rtlCol="0" anchor="t">
            <a:spAutoFit/>
          </a:bodyPr>
          <a:lstStyle/>
          <a:p>
            <a:pPr algn="l" indent="0" marL="0">
              <a:lnSpc>
                <a:spcPts val="800"/>
              </a:lnSpc>
              <a:buNone/>
            </a:pPr>
            <a:r>
              <a:rPr lang="en-US" sz="621" spc="2" kern="0" dirty="0">
                <a:solidFill>
                  <a:srgbClr val="999999"/>
                </a:solidFill>
                <a:latin typeface="Lato" pitchFamily="34" charset="0"/>
                <a:ea typeface="Lato" pitchFamily="34" charset="-122"/>
                <a:cs typeface="Lato" pitchFamily="34" charset="-120"/>
              </a:rPr>
              <a:t>التقنية الأساسية</a:t>
            </a:r>
            <a:endParaRPr lang="en-US" sz="621" dirty="0"/>
          </a:p>
        </p:txBody>
      </p:sp>
      <p:sp>
        <p:nvSpPr>
          <p:cNvPr id="8" name="Text 5"/>
          <p:cNvSpPr/>
          <p:nvPr/>
        </p:nvSpPr>
        <p:spPr>
          <a:xfrm>
            <a:off x="571500" y="2281730"/>
            <a:ext cx="3614738" cy="182863"/>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0A192F"/>
                </a:solidFill>
                <a:latin typeface="Lato" pitchFamily="34" charset="0"/>
                <a:ea typeface="Lato" pitchFamily="34" charset="-122"/>
                <a:cs typeface="Lato" pitchFamily="34" charset="-120"/>
              </a:rPr>
              <a:t>نموذج </a:t>
            </a:r>
            <a:pPr algn="l" indent="0" marL="0">
              <a:lnSpc>
                <a:spcPts val="1400"/>
              </a:lnSpc>
              <a:buNone/>
            </a:pPr>
            <a:r>
              <a:rPr lang="en-US" sz="784" b="1" dirty="0">
                <a:solidFill>
                  <a:srgbClr val="D4AF37"/>
                </a:solidFill>
                <a:latin typeface="Lato" pitchFamily="34" charset="0"/>
                <a:ea typeface="Lato" pitchFamily="34" charset="-122"/>
                <a:cs typeface="Lato" pitchFamily="34" charset="-120"/>
              </a:rPr>
              <a:t>llama3</a:t>
            </a:r>
            <a:pPr algn="l" indent="0" marL="0">
              <a:lnSpc>
                <a:spcPts val="1400"/>
              </a:lnSpc>
              <a:buNone/>
            </a:pPr>
            <a:r>
              <a:rPr lang="en-US" sz="784" b="1" dirty="0">
                <a:solidFill>
                  <a:srgbClr val="0A192F"/>
                </a:solidFill>
                <a:latin typeface="Lato" pitchFamily="34" charset="0"/>
                <a:ea typeface="Lato" pitchFamily="34" charset="-122"/>
                <a:cs typeface="Lato" pitchFamily="34" charset="-120"/>
              </a:rPr>
              <a:t> للذكاء الاصطناعي</a:t>
            </a:r>
            <a:endParaRPr lang="en-US" sz="784" dirty="0"/>
          </a:p>
        </p:txBody>
      </p:sp>
      <p:sp>
        <p:nvSpPr>
          <p:cNvPr id="9" name="Text 6"/>
          <p:cNvSpPr/>
          <p:nvPr/>
        </p:nvSpPr>
        <p:spPr>
          <a:xfrm>
            <a:off x="571500" y="2678906"/>
            <a:ext cx="3614738" cy="103584"/>
          </a:xfrm>
          <a:prstGeom prst="rect">
            <a:avLst/>
          </a:prstGeom>
          <a:noFill/>
          <a:ln/>
        </p:spPr>
        <p:txBody>
          <a:bodyPr wrap="none" lIns="0" tIns="0" rIns="0" bIns="0" rtlCol="0" anchor="t">
            <a:spAutoFit/>
          </a:bodyPr>
          <a:lstStyle/>
          <a:p>
            <a:pPr algn="l" indent="0" marL="0">
              <a:lnSpc>
                <a:spcPts val="800"/>
              </a:lnSpc>
              <a:buNone/>
            </a:pPr>
            <a:r>
              <a:rPr lang="en-US" sz="621" spc="2" kern="0" dirty="0">
                <a:solidFill>
                  <a:srgbClr val="999999"/>
                </a:solidFill>
                <a:latin typeface="Lato" pitchFamily="34" charset="0"/>
                <a:ea typeface="Lato" pitchFamily="34" charset="-122"/>
                <a:cs typeface="Lato" pitchFamily="34" charset="-120"/>
              </a:rPr>
              <a:t>الدمج الدولي</a:t>
            </a:r>
            <a:endParaRPr lang="en-US" sz="621" dirty="0"/>
          </a:p>
        </p:txBody>
      </p:sp>
      <p:sp>
        <p:nvSpPr>
          <p:cNvPr id="10" name="Text 7"/>
          <p:cNvSpPr/>
          <p:nvPr/>
        </p:nvSpPr>
        <p:spPr>
          <a:xfrm>
            <a:off x="571500" y="2853928"/>
            <a:ext cx="3614738" cy="182863"/>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0A192F"/>
                </a:solidFill>
                <a:latin typeface="Lato" pitchFamily="34" charset="0"/>
                <a:ea typeface="Lato" pitchFamily="34" charset="-122"/>
                <a:cs typeface="Lato" pitchFamily="34" charset="-120"/>
              </a:rPr>
              <a:t>تكامل مباشر مع قاعدة بيانات </a:t>
            </a:r>
            <a:pPr algn="l" indent="0" marL="0">
              <a:lnSpc>
                <a:spcPts val="1400"/>
              </a:lnSpc>
              <a:buNone/>
            </a:pPr>
            <a:r>
              <a:rPr lang="en-US" sz="784" b="1" dirty="0">
                <a:solidFill>
                  <a:srgbClr val="D4AF37"/>
                </a:solidFill>
                <a:latin typeface="Lato" pitchFamily="34" charset="0"/>
                <a:ea typeface="Lato" pitchFamily="34" charset="-122"/>
                <a:cs typeface="Lato" pitchFamily="34" charset="-120"/>
              </a:rPr>
              <a:t>EPO</a:t>
            </a:r>
            <a:endParaRPr lang="en-US" sz="784" dirty="0"/>
          </a:p>
        </p:txBody>
      </p:sp>
      <p:sp>
        <p:nvSpPr>
          <p:cNvPr id="11" name="Text 8"/>
          <p:cNvSpPr/>
          <p:nvPr/>
        </p:nvSpPr>
        <p:spPr>
          <a:xfrm>
            <a:off x="571500" y="3251104"/>
            <a:ext cx="3614738" cy="103584"/>
          </a:xfrm>
          <a:prstGeom prst="rect">
            <a:avLst/>
          </a:prstGeom>
          <a:noFill/>
          <a:ln/>
        </p:spPr>
        <p:txBody>
          <a:bodyPr wrap="none" lIns="0" tIns="0" rIns="0" bIns="0" rtlCol="0" anchor="t">
            <a:spAutoFit/>
          </a:bodyPr>
          <a:lstStyle/>
          <a:p>
            <a:pPr algn="l" indent="0" marL="0">
              <a:lnSpc>
                <a:spcPts val="800"/>
              </a:lnSpc>
              <a:buNone/>
            </a:pPr>
            <a:r>
              <a:rPr lang="en-US" sz="621" spc="2" kern="0" dirty="0">
                <a:solidFill>
                  <a:srgbClr val="999999"/>
                </a:solidFill>
                <a:latin typeface="Lato" pitchFamily="34" charset="0"/>
                <a:ea typeface="Lato" pitchFamily="34" charset="-122"/>
                <a:cs typeface="Lato" pitchFamily="34" charset="-120"/>
              </a:rPr>
              <a:t>النتيجة</a:t>
            </a:r>
            <a:endParaRPr lang="en-US" sz="621" dirty="0"/>
          </a:p>
        </p:txBody>
      </p:sp>
      <p:sp>
        <p:nvSpPr>
          <p:cNvPr id="12" name="Text 9"/>
          <p:cNvSpPr/>
          <p:nvPr/>
        </p:nvSpPr>
        <p:spPr>
          <a:xfrm>
            <a:off x="571500" y="3426126"/>
            <a:ext cx="3614738" cy="182863"/>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0A192F"/>
                </a:solidFill>
                <a:latin typeface="Lato" pitchFamily="34" charset="0"/>
                <a:ea typeface="Lato" pitchFamily="34" charset="-122"/>
                <a:cs typeface="Lato" pitchFamily="34" charset="-120"/>
              </a:rPr>
              <a:t>براءات اختراع موثقة وجاهزة للتقديم</a:t>
            </a:r>
            <a:endParaRPr lang="en-US" sz="78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8001000" cy="532209"/>
          </a:xfrm>
          <a:prstGeom prst="rect">
            <a:avLst/>
          </a:prstGeom>
          <a:noFill/>
          <a:ln/>
        </p:spPr>
        <p:txBody>
          <a:bodyPr wrap="none" lIns="0" tIns="0" rIns="0" bIns="0" rtlCol="0" anchor="t">
            <a:spAutoFit/>
          </a:bodyPr>
          <a:lstStyle/>
          <a:p>
            <a:pPr algn="l" indent="0" marL="0">
              <a:lnSpc>
                <a:spcPts val="3800"/>
              </a:lnSpc>
              <a:buNone/>
            </a:pPr>
            <a:r>
              <a:rPr lang="en-US" sz="2862" b="1" dirty="0">
                <a:solidFill>
                  <a:srgbClr val="0A192F"/>
                </a:solidFill>
                <a:latin typeface="Playfair Display" pitchFamily="34" charset="0"/>
                <a:ea typeface="Playfair Display" pitchFamily="34" charset="-122"/>
                <a:cs typeface="Playfair Display" pitchFamily="34" charset="-120"/>
              </a:rPr>
              <a:t>التحديات في عملية الابتكار</a:t>
            </a:r>
            <a:endParaRPr lang="en-US" sz="2862" dirty="0"/>
          </a:p>
        </p:txBody>
      </p:sp>
      <p:sp>
        <p:nvSpPr>
          <p:cNvPr id="4" name="Text 1"/>
          <p:cNvSpPr/>
          <p:nvPr/>
        </p:nvSpPr>
        <p:spPr>
          <a:xfrm>
            <a:off x="8143875" y="1768078"/>
            <a:ext cx="428625" cy="457200"/>
          </a:xfrm>
          <a:prstGeom prst="rect">
            <a:avLst/>
          </a:prstGeom>
          <a:noFill/>
          <a:ln/>
        </p:spPr>
        <p:txBody>
          <a:bodyPr wrap="none" lIns="0" tIns="0" rIns="0" bIns="0" rtlCol="0" anchor="t">
            <a:spAutoFit/>
          </a:bodyPr>
          <a:lstStyle/>
          <a:p>
            <a:pPr algn="ctr" indent="0" marL="0">
              <a:lnSpc>
                <a:spcPts val="3200"/>
              </a:lnSpc>
              <a:buNone/>
            </a:pPr>
            <a:r>
              <a:rPr lang="en-US" sz="2436" b="1" dirty="0">
                <a:solidFill>
                  <a:srgbClr val="D4AF37"/>
                </a:solidFill>
                <a:latin typeface="Playfair Display" pitchFamily="34" charset="0"/>
                <a:ea typeface="Playfair Display" pitchFamily="34" charset="-122"/>
                <a:cs typeface="Playfair Display" pitchFamily="34" charset="-120"/>
              </a:rPr>
              <a:t>1</a:t>
            </a:r>
            <a:endParaRPr lang="en-US" sz="2436" dirty="0"/>
          </a:p>
        </p:txBody>
      </p:sp>
      <p:sp>
        <p:nvSpPr>
          <p:cNvPr id="5" name="Text 2"/>
          <p:cNvSpPr/>
          <p:nvPr/>
        </p:nvSpPr>
        <p:spPr>
          <a:xfrm>
            <a:off x="5995392" y="1893819"/>
            <a:ext cx="2005608" cy="205718"/>
          </a:xfrm>
          <a:prstGeom prst="rect">
            <a:avLst/>
          </a:prstGeom>
          <a:noFill/>
          <a:ln/>
        </p:spPr>
        <p:txBody>
          <a:bodyPr wrap="none" lIns="0" tIns="0" rIns="0" bIns="0" rtlCol="0" anchor="t">
            <a:spAutoFit/>
          </a:bodyPr>
          <a:lstStyle/>
          <a:p>
            <a:pPr algn="l" indent="0" marL="0">
              <a:lnSpc>
                <a:spcPts val="1600"/>
              </a:lnSpc>
              <a:buNone/>
            </a:pPr>
            <a:r>
              <a:rPr lang="en-US" sz="942" dirty="0">
                <a:solidFill>
                  <a:srgbClr val="333333"/>
                </a:solidFill>
                <a:latin typeface="Lato" pitchFamily="34" charset="0"/>
                <a:ea typeface="Lato" pitchFamily="34" charset="-122"/>
                <a:cs typeface="Lato" pitchFamily="34" charset="-120"/>
              </a:rPr>
              <a:t>صعوبة توليد أفكار براءات اختراع جديدة</a:t>
            </a:r>
            <a:endParaRPr lang="en-US" sz="942" dirty="0"/>
          </a:p>
        </p:txBody>
      </p:sp>
      <p:sp>
        <p:nvSpPr>
          <p:cNvPr id="6" name="Text 3"/>
          <p:cNvSpPr/>
          <p:nvPr/>
        </p:nvSpPr>
        <p:spPr>
          <a:xfrm>
            <a:off x="4000500" y="1768078"/>
            <a:ext cx="428625" cy="457200"/>
          </a:xfrm>
          <a:prstGeom prst="rect">
            <a:avLst/>
          </a:prstGeom>
          <a:noFill/>
          <a:ln/>
        </p:spPr>
        <p:txBody>
          <a:bodyPr wrap="none" lIns="0" tIns="0" rIns="0" bIns="0" rtlCol="0" anchor="t">
            <a:spAutoFit/>
          </a:bodyPr>
          <a:lstStyle/>
          <a:p>
            <a:pPr algn="ctr" indent="0" marL="0">
              <a:lnSpc>
                <a:spcPts val="3200"/>
              </a:lnSpc>
              <a:buNone/>
            </a:pPr>
            <a:r>
              <a:rPr lang="en-US" sz="2436" b="1" dirty="0">
                <a:solidFill>
                  <a:srgbClr val="D4AF37"/>
                </a:solidFill>
                <a:latin typeface="Playfair Display" pitchFamily="34" charset="0"/>
                <a:ea typeface="Playfair Display" pitchFamily="34" charset="-122"/>
                <a:cs typeface="Playfair Display" pitchFamily="34" charset="-120"/>
              </a:rPr>
              <a:t>2</a:t>
            </a:r>
            <a:endParaRPr lang="en-US" sz="2436" dirty="0"/>
          </a:p>
        </p:txBody>
      </p:sp>
      <p:sp>
        <p:nvSpPr>
          <p:cNvPr id="7" name="Text 4"/>
          <p:cNvSpPr/>
          <p:nvPr/>
        </p:nvSpPr>
        <p:spPr>
          <a:xfrm>
            <a:off x="1507331" y="1893819"/>
            <a:ext cx="2350294" cy="205718"/>
          </a:xfrm>
          <a:prstGeom prst="rect">
            <a:avLst/>
          </a:prstGeom>
          <a:noFill/>
          <a:ln/>
        </p:spPr>
        <p:txBody>
          <a:bodyPr wrap="none" lIns="0" tIns="0" rIns="0" bIns="0" rtlCol="0" anchor="t">
            <a:spAutoFit/>
          </a:bodyPr>
          <a:lstStyle/>
          <a:p>
            <a:pPr algn="l" indent="0" marL="0">
              <a:lnSpc>
                <a:spcPts val="1600"/>
              </a:lnSpc>
              <a:buNone/>
            </a:pPr>
            <a:r>
              <a:rPr lang="en-US" sz="942" dirty="0">
                <a:solidFill>
                  <a:srgbClr val="333333"/>
                </a:solidFill>
                <a:latin typeface="Lato" pitchFamily="34" charset="0"/>
                <a:ea typeface="Lato" pitchFamily="34" charset="-122"/>
                <a:cs typeface="Lato" pitchFamily="34" charset="-120"/>
              </a:rPr>
              <a:t>استهلاك الوقت في البحث عن الأفكار المبتكرة</a:t>
            </a:r>
            <a:endParaRPr lang="en-US" sz="942" dirty="0"/>
          </a:p>
        </p:txBody>
      </p:sp>
      <p:sp>
        <p:nvSpPr>
          <p:cNvPr id="8" name="Text 5"/>
          <p:cNvSpPr/>
          <p:nvPr/>
        </p:nvSpPr>
        <p:spPr>
          <a:xfrm>
            <a:off x="8143875" y="2511028"/>
            <a:ext cx="428625" cy="457200"/>
          </a:xfrm>
          <a:prstGeom prst="rect">
            <a:avLst/>
          </a:prstGeom>
          <a:noFill/>
          <a:ln/>
        </p:spPr>
        <p:txBody>
          <a:bodyPr wrap="none" lIns="0" tIns="0" rIns="0" bIns="0" rtlCol="0" anchor="t">
            <a:spAutoFit/>
          </a:bodyPr>
          <a:lstStyle/>
          <a:p>
            <a:pPr algn="ctr" indent="0" marL="0">
              <a:lnSpc>
                <a:spcPts val="3200"/>
              </a:lnSpc>
              <a:buNone/>
            </a:pPr>
            <a:r>
              <a:rPr lang="en-US" sz="2436" b="1" dirty="0">
                <a:solidFill>
                  <a:srgbClr val="D4AF37"/>
                </a:solidFill>
                <a:latin typeface="Playfair Display" pitchFamily="34" charset="0"/>
                <a:ea typeface="Playfair Display" pitchFamily="34" charset="-122"/>
                <a:cs typeface="Playfair Display" pitchFamily="34" charset="-120"/>
              </a:rPr>
              <a:t>3</a:t>
            </a:r>
            <a:endParaRPr lang="en-US" sz="2436" dirty="0"/>
          </a:p>
        </p:txBody>
      </p:sp>
      <p:sp>
        <p:nvSpPr>
          <p:cNvPr id="9" name="Text 6"/>
          <p:cNvSpPr/>
          <p:nvPr/>
        </p:nvSpPr>
        <p:spPr>
          <a:xfrm>
            <a:off x="5536406" y="2636769"/>
            <a:ext cx="2464594" cy="205718"/>
          </a:xfrm>
          <a:prstGeom prst="rect">
            <a:avLst/>
          </a:prstGeom>
          <a:noFill/>
          <a:ln/>
        </p:spPr>
        <p:txBody>
          <a:bodyPr wrap="none" lIns="0" tIns="0" rIns="0" bIns="0" rtlCol="0" anchor="t">
            <a:spAutoFit/>
          </a:bodyPr>
          <a:lstStyle/>
          <a:p>
            <a:pPr algn="l" indent="0" marL="0">
              <a:lnSpc>
                <a:spcPts val="1600"/>
              </a:lnSpc>
              <a:buNone/>
            </a:pPr>
            <a:r>
              <a:rPr lang="en-US" sz="942" dirty="0">
                <a:solidFill>
                  <a:srgbClr val="333333"/>
                </a:solidFill>
                <a:latin typeface="Lato" pitchFamily="34" charset="0"/>
                <a:ea typeface="Lato" pitchFamily="34" charset="-122"/>
                <a:cs typeface="Lato" pitchFamily="34" charset="-120"/>
              </a:rPr>
              <a:t>عدم وجود طريقة سريعة للتحقق من جدة الفكرة</a:t>
            </a:r>
            <a:endParaRPr lang="en-US" sz="942" dirty="0"/>
          </a:p>
        </p:txBody>
      </p:sp>
      <p:sp>
        <p:nvSpPr>
          <p:cNvPr id="10" name="Text 7"/>
          <p:cNvSpPr/>
          <p:nvPr/>
        </p:nvSpPr>
        <p:spPr>
          <a:xfrm>
            <a:off x="4000500" y="2511028"/>
            <a:ext cx="428625" cy="457200"/>
          </a:xfrm>
          <a:prstGeom prst="rect">
            <a:avLst/>
          </a:prstGeom>
          <a:noFill/>
          <a:ln/>
        </p:spPr>
        <p:txBody>
          <a:bodyPr wrap="none" lIns="0" tIns="0" rIns="0" bIns="0" rtlCol="0" anchor="t">
            <a:spAutoFit/>
          </a:bodyPr>
          <a:lstStyle/>
          <a:p>
            <a:pPr algn="ctr" indent="0" marL="0">
              <a:lnSpc>
                <a:spcPts val="3200"/>
              </a:lnSpc>
              <a:buNone/>
            </a:pPr>
            <a:r>
              <a:rPr lang="en-US" sz="2436" b="1" dirty="0">
                <a:solidFill>
                  <a:srgbClr val="D4AF37"/>
                </a:solidFill>
                <a:latin typeface="Playfair Display" pitchFamily="34" charset="0"/>
                <a:ea typeface="Playfair Display" pitchFamily="34" charset="-122"/>
                <a:cs typeface="Playfair Display" pitchFamily="34" charset="-120"/>
              </a:rPr>
              <a:t>4</a:t>
            </a:r>
            <a:endParaRPr lang="en-US" sz="2436" dirty="0"/>
          </a:p>
        </p:txBody>
      </p:sp>
      <p:sp>
        <p:nvSpPr>
          <p:cNvPr id="11" name="Text 8"/>
          <p:cNvSpPr/>
          <p:nvPr/>
        </p:nvSpPr>
        <p:spPr>
          <a:xfrm>
            <a:off x="1482328" y="2636769"/>
            <a:ext cx="2375297" cy="205718"/>
          </a:xfrm>
          <a:prstGeom prst="rect">
            <a:avLst/>
          </a:prstGeom>
          <a:noFill/>
          <a:ln/>
        </p:spPr>
        <p:txBody>
          <a:bodyPr wrap="none" lIns="0" tIns="0" rIns="0" bIns="0" rtlCol="0" anchor="t">
            <a:spAutoFit/>
          </a:bodyPr>
          <a:lstStyle/>
          <a:p>
            <a:pPr algn="l" indent="0" marL="0">
              <a:lnSpc>
                <a:spcPts val="1600"/>
              </a:lnSpc>
              <a:buNone/>
            </a:pPr>
            <a:r>
              <a:rPr lang="en-US" sz="942" dirty="0">
                <a:solidFill>
                  <a:srgbClr val="333333"/>
                </a:solidFill>
                <a:latin typeface="Lato" pitchFamily="34" charset="0"/>
                <a:ea typeface="Lato" pitchFamily="34" charset="-122"/>
                <a:cs typeface="Lato" pitchFamily="34" charset="-120"/>
              </a:rPr>
              <a:t>صعوبة دمج المعارف من مجالات علمية مختلفة</a:t>
            </a:r>
            <a:endParaRPr lang="en-US" sz="942"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8001000" cy="532209"/>
          </a:xfrm>
          <a:prstGeom prst="rect">
            <a:avLst/>
          </a:prstGeom>
          <a:noFill/>
          <a:ln/>
        </p:spPr>
        <p:txBody>
          <a:bodyPr wrap="none" lIns="0" tIns="0" rIns="0" bIns="0" rtlCol="0" anchor="t">
            <a:spAutoFit/>
          </a:bodyPr>
          <a:lstStyle/>
          <a:p>
            <a:pPr algn="l" indent="0" marL="0">
              <a:lnSpc>
                <a:spcPts val="3800"/>
              </a:lnSpc>
              <a:buNone/>
            </a:pPr>
            <a:r>
              <a:rPr lang="en-US" sz="2862" b="1" dirty="0">
                <a:solidFill>
                  <a:srgbClr val="0A192F"/>
                </a:solidFill>
                <a:latin typeface="Playfair Display" pitchFamily="34" charset="0"/>
                <a:ea typeface="Playfair Display" pitchFamily="34" charset="-122"/>
                <a:cs typeface="Playfair Display" pitchFamily="34" charset="-120"/>
              </a:rPr>
              <a:t>الحل - آلية العمل</a:t>
            </a:r>
            <a:endParaRPr lang="en-US" sz="2862" dirty="0"/>
          </a:p>
        </p:txBody>
      </p:sp>
      <p:sp>
        <p:nvSpPr>
          <p:cNvPr id="4" name="Text 1"/>
          <p:cNvSpPr/>
          <p:nvPr/>
        </p:nvSpPr>
        <p:spPr>
          <a:xfrm>
            <a:off x="8215313" y="1839516"/>
            <a:ext cx="357188" cy="303609"/>
          </a:xfrm>
          <a:prstGeom prst="rect">
            <a:avLst/>
          </a:prstGeom>
          <a:noFill/>
          <a:ln/>
        </p:spPr>
        <p:txBody>
          <a:bodyPr wrap="none" lIns="0" tIns="0" rIns="0" bIns="0" rtlCol="0" anchor="t">
            <a:spAutoFit/>
          </a:bodyPr>
          <a:lstStyle/>
          <a:p>
            <a:pPr algn="ctr" indent="0" marL="0">
              <a:lnSpc>
                <a:spcPts val="2200"/>
              </a:lnSpc>
              <a:buNone/>
            </a:pPr>
            <a:r>
              <a:rPr lang="en-US" sz="1602" b="1" dirty="0">
                <a:solidFill>
                  <a:srgbClr val="D4AF37"/>
                </a:solidFill>
                <a:latin typeface="Playfair Display" pitchFamily="34" charset="0"/>
                <a:ea typeface="Playfair Display" pitchFamily="34" charset="-122"/>
                <a:cs typeface="Playfair Display" pitchFamily="34" charset="-120"/>
              </a:rPr>
              <a:t>1</a:t>
            </a:r>
            <a:endParaRPr lang="en-US" sz="1602" dirty="0"/>
          </a:p>
        </p:txBody>
      </p:sp>
      <p:sp>
        <p:nvSpPr>
          <p:cNvPr id="5" name="Text 2"/>
          <p:cNvSpPr/>
          <p:nvPr/>
        </p:nvSpPr>
        <p:spPr>
          <a:xfrm>
            <a:off x="6391870" y="1839516"/>
            <a:ext cx="1680567"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A192F"/>
                </a:solidFill>
                <a:latin typeface="Lato" pitchFamily="34" charset="0"/>
                <a:ea typeface="Lato" pitchFamily="34" charset="-122"/>
                <a:cs typeface="Lato" pitchFamily="34" charset="-120"/>
              </a:rPr>
              <a:t>إدخال المجال</a:t>
            </a:r>
            <a:endParaRPr lang="en-US" sz="784" dirty="0"/>
          </a:p>
        </p:txBody>
      </p:sp>
      <p:sp>
        <p:nvSpPr>
          <p:cNvPr id="6" name="Text 3"/>
          <p:cNvSpPr/>
          <p:nvPr/>
        </p:nvSpPr>
        <p:spPr>
          <a:xfrm>
            <a:off x="6391870" y="2035969"/>
            <a:ext cx="1680567"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اختيار مجال علمي مثل البيولوجيا الكمومية</a:t>
            </a:r>
            <a:endParaRPr lang="en-US" sz="727" dirty="0"/>
          </a:p>
        </p:txBody>
      </p:sp>
      <p:sp>
        <p:nvSpPr>
          <p:cNvPr id="7" name="Text 4"/>
          <p:cNvSpPr/>
          <p:nvPr/>
        </p:nvSpPr>
        <p:spPr>
          <a:xfrm>
            <a:off x="8215313" y="2364581"/>
            <a:ext cx="357188" cy="303609"/>
          </a:xfrm>
          <a:prstGeom prst="rect">
            <a:avLst/>
          </a:prstGeom>
          <a:noFill/>
          <a:ln/>
        </p:spPr>
        <p:txBody>
          <a:bodyPr wrap="none" lIns="0" tIns="0" rIns="0" bIns="0" rtlCol="0" anchor="t">
            <a:spAutoFit/>
          </a:bodyPr>
          <a:lstStyle/>
          <a:p>
            <a:pPr algn="ctr" indent="0" marL="0">
              <a:lnSpc>
                <a:spcPts val="2200"/>
              </a:lnSpc>
              <a:buNone/>
            </a:pPr>
            <a:r>
              <a:rPr lang="en-US" sz="1602" b="1" dirty="0">
                <a:solidFill>
                  <a:srgbClr val="D4AF37"/>
                </a:solidFill>
                <a:latin typeface="Playfair Display" pitchFamily="34" charset="0"/>
                <a:ea typeface="Playfair Display" pitchFamily="34" charset="-122"/>
                <a:cs typeface="Playfair Display" pitchFamily="34" charset="-120"/>
              </a:rPr>
              <a:t>2</a:t>
            </a:r>
            <a:endParaRPr lang="en-US" sz="1602" dirty="0"/>
          </a:p>
        </p:txBody>
      </p:sp>
      <p:sp>
        <p:nvSpPr>
          <p:cNvPr id="8" name="Text 5"/>
          <p:cNvSpPr/>
          <p:nvPr/>
        </p:nvSpPr>
        <p:spPr>
          <a:xfrm>
            <a:off x="6316861" y="2364581"/>
            <a:ext cx="1755577"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A192F"/>
                </a:solidFill>
                <a:latin typeface="Lato" pitchFamily="34" charset="0"/>
                <a:ea typeface="Lato" pitchFamily="34" charset="-122"/>
                <a:cs typeface="Lato" pitchFamily="34" charset="-120"/>
              </a:rPr>
              <a:t>توليد الأفكار</a:t>
            </a:r>
            <a:endParaRPr lang="en-US" sz="784" dirty="0"/>
          </a:p>
        </p:txBody>
      </p:sp>
      <p:sp>
        <p:nvSpPr>
          <p:cNvPr id="9" name="Text 6"/>
          <p:cNvSpPr/>
          <p:nvPr/>
        </p:nvSpPr>
        <p:spPr>
          <a:xfrm>
            <a:off x="6316861" y="2561034"/>
            <a:ext cx="1755577"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استخدام نموذج llama3 لتوليد براءات اختراع</a:t>
            </a:r>
            <a:endParaRPr lang="en-US" sz="727" dirty="0"/>
          </a:p>
        </p:txBody>
      </p:sp>
      <p:sp>
        <p:nvSpPr>
          <p:cNvPr id="10" name="Text 7"/>
          <p:cNvSpPr/>
          <p:nvPr/>
        </p:nvSpPr>
        <p:spPr>
          <a:xfrm>
            <a:off x="8215313" y="2889647"/>
            <a:ext cx="357188" cy="303609"/>
          </a:xfrm>
          <a:prstGeom prst="rect">
            <a:avLst/>
          </a:prstGeom>
          <a:noFill/>
          <a:ln/>
        </p:spPr>
        <p:txBody>
          <a:bodyPr wrap="none" lIns="0" tIns="0" rIns="0" bIns="0" rtlCol="0" anchor="t">
            <a:spAutoFit/>
          </a:bodyPr>
          <a:lstStyle/>
          <a:p>
            <a:pPr algn="ctr" indent="0" marL="0">
              <a:lnSpc>
                <a:spcPts val="2200"/>
              </a:lnSpc>
              <a:buNone/>
            </a:pPr>
            <a:r>
              <a:rPr lang="en-US" sz="1602" b="1" dirty="0">
                <a:solidFill>
                  <a:srgbClr val="D4AF37"/>
                </a:solidFill>
                <a:latin typeface="Playfair Display" pitchFamily="34" charset="0"/>
                <a:ea typeface="Playfair Display" pitchFamily="34" charset="-122"/>
                <a:cs typeface="Playfair Display" pitchFamily="34" charset="-120"/>
              </a:rPr>
              <a:t>3</a:t>
            </a:r>
            <a:endParaRPr lang="en-US" sz="1602" dirty="0"/>
          </a:p>
        </p:txBody>
      </p:sp>
      <p:sp>
        <p:nvSpPr>
          <p:cNvPr id="11" name="Text 8"/>
          <p:cNvSpPr/>
          <p:nvPr/>
        </p:nvSpPr>
        <p:spPr>
          <a:xfrm>
            <a:off x="6381155" y="2889647"/>
            <a:ext cx="1691283"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A192F"/>
                </a:solidFill>
                <a:latin typeface="Lato" pitchFamily="34" charset="0"/>
                <a:ea typeface="Lato" pitchFamily="34" charset="-122"/>
                <a:cs typeface="Lato" pitchFamily="34" charset="-120"/>
              </a:rPr>
              <a:t>التحليل</a:t>
            </a:r>
            <a:endParaRPr lang="en-US" sz="784" dirty="0"/>
          </a:p>
        </p:txBody>
      </p:sp>
      <p:sp>
        <p:nvSpPr>
          <p:cNvPr id="12" name="Text 9"/>
          <p:cNvSpPr/>
          <p:nvPr/>
        </p:nvSpPr>
        <p:spPr>
          <a:xfrm>
            <a:off x="6381155" y="3086100"/>
            <a:ext cx="1691283"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تقييم كل فكرة من حيث الآلية والجدة والأثر</a:t>
            </a:r>
            <a:endParaRPr lang="en-US" sz="727" dirty="0"/>
          </a:p>
        </p:txBody>
      </p:sp>
      <p:sp>
        <p:nvSpPr>
          <p:cNvPr id="13" name="Text 10"/>
          <p:cNvSpPr/>
          <p:nvPr/>
        </p:nvSpPr>
        <p:spPr>
          <a:xfrm>
            <a:off x="8215313" y="3414713"/>
            <a:ext cx="357188" cy="303609"/>
          </a:xfrm>
          <a:prstGeom prst="rect">
            <a:avLst/>
          </a:prstGeom>
          <a:noFill/>
          <a:ln/>
        </p:spPr>
        <p:txBody>
          <a:bodyPr wrap="none" lIns="0" tIns="0" rIns="0" bIns="0" rtlCol="0" anchor="t">
            <a:spAutoFit/>
          </a:bodyPr>
          <a:lstStyle/>
          <a:p>
            <a:pPr algn="ctr" indent="0" marL="0">
              <a:lnSpc>
                <a:spcPts val="2200"/>
              </a:lnSpc>
              <a:buNone/>
            </a:pPr>
            <a:r>
              <a:rPr lang="en-US" sz="1602" b="1" dirty="0">
                <a:solidFill>
                  <a:srgbClr val="D4AF37"/>
                </a:solidFill>
                <a:latin typeface="Playfair Display" pitchFamily="34" charset="0"/>
                <a:ea typeface="Playfair Display" pitchFamily="34" charset="-122"/>
                <a:cs typeface="Playfair Display" pitchFamily="34" charset="-120"/>
              </a:rPr>
              <a:t>4</a:t>
            </a:r>
            <a:endParaRPr lang="en-US" sz="1602" dirty="0"/>
          </a:p>
        </p:txBody>
      </p:sp>
      <p:sp>
        <p:nvSpPr>
          <p:cNvPr id="14" name="Text 11"/>
          <p:cNvSpPr/>
          <p:nvPr/>
        </p:nvSpPr>
        <p:spPr>
          <a:xfrm>
            <a:off x="5420320" y="3414713"/>
            <a:ext cx="2652117"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A192F"/>
                </a:solidFill>
                <a:latin typeface="Lato" pitchFamily="34" charset="0"/>
                <a:ea typeface="Lato" pitchFamily="34" charset="-122"/>
                <a:cs typeface="Lato" pitchFamily="34" charset="-120"/>
              </a:rPr>
              <a:t>التحقق</a:t>
            </a:r>
            <a:endParaRPr lang="en-US" sz="784" dirty="0"/>
          </a:p>
        </p:txBody>
      </p:sp>
      <p:sp>
        <p:nvSpPr>
          <p:cNvPr id="15" name="Text 12"/>
          <p:cNvSpPr/>
          <p:nvPr/>
        </p:nvSpPr>
        <p:spPr>
          <a:xfrm>
            <a:off x="5420320" y="3611166"/>
            <a:ext cx="2652117"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البحث في قاعدة بيانات EPO للتحقق من عدم وجود براءات مشابهة</a:t>
            </a:r>
            <a:endParaRPr lang="en-US" sz="727" dirty="0"/>
          </a:p>
        </p:txBody>
      </p:sp>
      <p:sp>
        <p:nvSpPr>
          <p:cNvPr id="16" name="Text 13"/>
          <p:cNvSpPr/>
          <p:nvPr/>
        </p:nvSpPr>
        <p:spPr>
          <a:xfrm>
            <a:off x="8215313" y="3939778"/>
            <a:ext cx="357188" cy="303609"/>
          </a:xfrm>
          <a:prstGeom prst="rect">
            <a:avLst/>
          </a:prstGeom>
          <a:noFill/>
          <a:ln/>
        </p:spPr>
        <p:txBody>
          <a:bodyPr wrap="none" lIns="0" tIns="0" rIns="0" bIns="0" rtlCol="0" anchor="t">
            <a:spAutoFit/>
          </a:bodyPr>
          <a:lstStyle/>
          <a:p>
            <a:pPr algn="ctr" indent="0" marL="0">
              <a:lnSpc>
                <a:spcPts val="2200"/>
              </a:lnSpc>
              <a:buNone/>
            </a:pPr>
            <a:r>
              <a:rPr lang="en-US" sz="1602" b="1" dirty="0">
                <a:solidFill>
                  <a:srgbClr val="D4AF37"/>
                </a:solidFill>
                <a:latin typeface="Playfair Display" pitchFamily="34" charset="0"/>
                <a:ea typeface="Playfair Display" pitchFamily="34" charset="-122"/>
                <a:cs typeface="Playfair Display" pitchFamily="34" charset="-120"/>
              </a:rPr>
              <a:t>5</a:t>
            </a:r>
            <a:endParaRPr lang="en-US" sz="1602" dirty="0"/>
          </a:p>
        </p:txBody>
      </p:sp>
      <p:sp>
        <p:nvSpPr>
          <p:cNvPr id="17" name="Text 14"/>
          <p:cNvSpPr/>
          <p:nvPr/>
        </p:nvSpPr>
        <p:spPr>
          <a:xfrm>
            <a:off x="6186488" y="3939778"/>
            <a:ext cx="1885950"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A192F"/>
                </a:solidFill>
                <a:latin typeface="Lato" pitchFamily="34" charset="0"/>
                <a:ea typeface="Lato" pitchFamily="34" charset="-122"/>
                <a:cs typeface="Lato" pitchFamily="34" charset="-120"/>
              </a:rPr>
              <a:t>التصدير</a:t>
            </a:r>
            <a:endParaRPr lang="en-US" sz="784" dirty="0"/>
          </a:p>
        </p:txBody>
      </p:sp>
      <p:sp>
        <p:nvSpPr>
          <p:cNvPr id="18" name="Text 15"/>
          <p:cNvSpPr/>
          <p:nvPr/>
        </p:nvSpPr>
        <p:spPr>
          <a:xfrm>
            <a:off x="6186488" y="4136231"/>
            <a:ext cx="1885950"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حفظ النتائج بصيغ متعددة (JSON و Markdown)</a:t>
            </a:r>
            <a:endParaRPr lang="en-US" sz="727" dirty="0"/>
          </a:p>
        </p:txBody>
      </p:sp>
      <p:pic>
        <p:nvPicPr>
          <p:cNvPr id="19" name="Image 1" descr="preencoded.png">    </p:cNvPr>
          <p:cNvPicPr>
            <a:picLocks noChangeAspect="1"/>
          </p:cNvPicPr>
          <p:nvPr/>
        </p:nvPicPr>
        <p:blipFill>
          <a:blip r:embed="rId2"/>
          <a:stretch>
            <a:fillRect/>
          </a:stretch>
        </p:blipFill>
        <p:spPr>
          <a:xfrm>
            <a:off x="1085850" y="1648420"/>
            <a:ext cx="2828925" cy="28289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8001000" cy="532209"/>
          </a:xfrm>
          <a:prstGeom prst="rect">
            <a:avLst/>
          </a:prstGeom>
          <a:noFill/>
          <a:ln/>
        </p:spPr>
        <p:txBody>
          <a:bodyPr wrap="none" lIns="0" tIns="0" rIns="0" bIns="0" rtlCol="0" anchor="t">
            <a:spAutoFit/>
          </a:bodyPr>
          <a:lstStyle/>
          <a:p>
            <a:pPr algn="l" indent="0" marL="0">
              <a:lnSpc>
                <a:spcPts val="3800"/>
              </a:lnSpc>
              <a:buNone/>
            </a:pPr>
            <a:r>
              <a:rPr lang="en-US" sz="2862" b="1" dirty="0">
                <a:solidFill>
                  <a:srgbClr val="0A192F"/>
                </a:solidFill>
                <a:latin typeface="Playfair Display" pitchFamily="34" charset="0"/>
                <a:ea typeface="Playfair Display" pitchFamily="34" charset="-122"/>
                <a:cs typeface="Playfair Display" pitchFamily="34" charset="-120"/>
              </a:rPr>
              <a:t>الميزات الرئيسية</a:t>
            </a:r>
            <a:endParaRPr lang="en-US" sz="2862" dirty="0"/>
          </a:p>
        </p:txBody>
      </p:sp>
      <p:sp>
        <p:nvSpPr>
          <p:cNvPr id="4" name="Text 1"/>
          <p:cNvSpPr/>
          <p:nvPr/>
        </p:nvSpPr>
        <p:spPr>
          <a:xfrm>
            <a:off x="8215313" y="1482328"/>
            <a:ext cx="357188" cy="303609"/>
          </a:xfrm>
          <a:prstGeom prst="rect">
            <a:avLst/>
          </a:prstGeom>
          <a:noFill/>
          <a:ln/>
        </p:spPr>
        <p:txBody>
          <a:bodyPr wrap="none" lIns="0" tIns="0" rIns="0" bIns="0" rtlCol="0" anchor="t">
            <a:spAutoFit/>
          </a:bodyPr>
          <a:lstStyle/>
          <a:p>
            <a:pPr algn="ctr" indent="0" marL="0">
              <a:lnSpc>
                <a:spcPts val="2200"/>
              </a:lnSpc>
              <a:buNone/>
            </a:pPr>
            <a:r>
              <a:rPr lang="en-US" sz="1602" b="1" dirty="0">
                <a:solidFill>
                  <a:srgbClr val="D4AF37"/>
                </a:solidFill>
                <a:latin typeface="Playfair Display" pitchFamily="34" charset="0"/>
                <a:ea typeface="Playfair Display" pitchFamily="34" charset="-122"/>
                <a:cs typeface="Playfair Display" pitchFamily="34" charset="-120"/>
              </a:rPr>
              <a:t>①</a:t>
            </a:r>
            <a:endParaRPr lang="en-US" sz="1602" dirty="0"/>
          </a:p>
        </p:txBody>
      </p:sp>
      <p:sp>
        <p:nvSpPr>
          <p:cNvPr id="5" name="Text 2"/>
          <p:cNvSpPr/>
          <p:nvPr/>
        </p:nvSpPr>
        <p:spPr>
          <a:xfrm>
            <a:off x="4714875" y="1482328"/>
            <a:ext cx="3371850"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D4AF37"/>
                </a:solidFill>
                <a:latin typeface="Lato" pitchFamily="34" charset="0"/>
                <a:ea typeface="Lato" pitchFamily="34" charset="-122"/>
                <a:cs typeface="Lato" pitchFamily="34" charset="-120"/>
              </a:rPr>
              <a:t>توليد الأفكار بالذكاء الاصطناعي</a:t>
            </a:r>
            <a:endParaRPr lang="en-US" sz="885" dirty="0"/>
          </a:p>
        </p:txBody>
      </p:sp>
      <p:sp>
        <p:nvSpPr>
          <p:cNvPr id="6" name="Text 3"/>
          <p:cNvSpPr/>
          <p:nvPr/>
        </p:nvSpPr>
        <p:spPr>
          <a:xfrm>
            <a:off x="4714875" y="1682353"/>
            <a:ext cx="3371850" cy="182863"/>
          </a:xfrm>
          <a:prstGeom prst="rect">
            <a:avLst/>
          </a:prstGeom>
          <a:noFill/>
          <a:ln/>
        </p:spPr>
        <p:txBody>
          <a:bodyPr wrap="none" lIns="0" tIns="0" rIns="0" bIns="0" rtlCol="0" anchor="t">
            <a:spAutoFit/>
          </a:bodyPr>
          <a:lstStyle/>
          <a:p>
            <a:pPr algn="l" indent="0" marL="0">
              <a:lnSpc>
                <a:spcPts val="1400"/>
              </a:lnSpc>
              <a:buNone/>
            </a:pPr>
            <a:r>
              <a:rPr lang="en-US" sz="834" dirty="0">
                <a:solidFill>
                  <a:srgbClr val="333333"/>
                </a:solidFill>
                <a:latin typeface="Lato" pitchFamily="34" charset="0"/>
                <a:ea typeface="Lato" pitchFamily="34" charset="-122"/>
                <a:cs typeface="Lato" pitchFamily="34" charset="-120"/>
              </a:rPr>
              <a:t>يستخدم نموذج llama3 المتقدم لتوليد براءات اختراع فريدة وغير مسبوقة</a:t>
            </a:r>
            <a:endParaRPr lang="en-US" sz="834" dirty="0"/>
          </a:p>
        </p:txBody>
      </p:sp>
      <p:sp>
        <p:nvSpPr>
          <p:cNvPr id="7" name="Text 4"/>
          <p:cNvSpPr/>
          <p:nvPr/>
        </p:nvSpPr>
        <p:spPr>
          <a:xfrm>
            <a:off x="4071938" y="1482328"/>
            <a:ext cx="357188" cy="303609"/>
          </a:xfrm>
          <a:prstGeom prst="rect">
            <a:avLst/>
          </a:prstGeom>
          <a:noFill/>
          <a:ln/>
        </p:spPr>
        <p:txBody>
          <a:bodyPr wrap="none" lIns="0" tIns="0" rIns="0" bIns="0" rtlCol="0" anchor="t">
            <a:spAutoFit/>
          </a:bodyPr>
          <a:lstStyle/>
          <a:p>
            <a:pPr algn="ctr" indent="0" marL="0">
              <a:lnSpc>
                <a:spcPts val="2200"/>
              </a:lnSpc>
              <a:buNone/>
            </a:pPr>
            <a:r>
              <a:rPr lang="en-US" sz="1602" b="1" dirty="0">
                <a:solidFill>
                  <a:srgbClr val="D4AF37"/>
                </a:solidFill>
                <a:latin typeface="Playfair Display" pitchFamily="34" charset="0"/>
                <a:ea typeface="Playfair Display" pitchFamily="34" charset="-122"/>
                <a:cs typeface="Playfair Display" pitchFamily="34" charset="-120"/>
              </a:rPr>
              <a:t>②</a:t>
            </a:r>
            <a:endParaRPr lang="en-US" sz="1602" dirty="0"/>
          </a:p>
        </p:txBody>
      </p:sp>
      <p:sp>
        <p:nvSpPr>
          <p:cNvPr id="8" name="Text 5"/>
          <p:cNvSpPr/>
          <p:nvPr/>
        </p:nvSpPr>
        <p:spPr>
          <a:xfrm>
            <a:off x="571500" y="1482328"/>
            <a:ext cx="3371850"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D4AF37"/>
                </a:solidFill>
                <a:latin typeface="Lato" pitchFamily="34" charset="0"/>
                <a:ea typeface="Lato" pitchFamily="34" charset="-122"/>
                <a:cs typeface="Lato" pitchFamily="34" charset="-120"/>
              </a:rPr>
              <a:t>دمج متعدد المجالات</a:t>
            </a:r>
            <a:endParaRPr lang="en-US" sz="885" dirty="0"/>
          </a:p>
        </p:txBody>
      </p:sp>
      <p:sp>
        <p:nvSpPr>
          <p:cNvPr id="9" name="Text 6"/>
          <p:cNvSpPr/>
          <p:nvPr/>
        </p:nvSpPr>
        <p:spPr>
          <a:xfrm>
            <a:off x="571500" y="1682353"/>
            <a:ext cx="3371850" cy="182863"/>
          </a:xfrm>
          <a:prstGeom prst="rect">
            <a:avLst/>
          </a:prstGeom>
          <a:noFill/>
          <a:ln/>
        </p:spPr>
        <p:txBody>
          <a:bodyPr wrap="none" lIns="0" tIns="0" rIns="0" bIns="0" rtlCol="0" anchor="t">
            <a:spAutoFit/>
          </a:bodyPr>
          <a:lstStyle/>
          <a:p>
            <a:pPr algn="l" indent="0" marL="0">
              <a:lnSpc>
                <a:spcPts val="1400"/>
              </a:lnSpc>
              <a:buNone/>
            </a:pPr>
            <a:r>
              <a:rPr lang="en-US" sz="834" dirty="0">
                <a:solidFill>
                  <a:srgbClr val="333333"/>
                </a:solidFill>
                <a:latin typeface="Lato" pitchFamily="34" charset="0"/>
                <a:ea typeface="Lato" pitchFamily="34" charset="-122"/>
                <a:cs typeface="Lato" pitchFamily="34" charset="-120"/>
              </a:rPr>
              <a:t>يجمع بين 3 أو أكثر من المجالات العلمية المختلفة لابتكار مفاهيم جديدة</a:t>
            </a:r>
            <a:endParaRPr lang="en-US" sz="834" dirty="0"/>
          </a:p>
        </p:txBody>
      </p:sp>
      <p:sp>
        <p:nvSpPr>
          <p:cNvPr id="10" name="Text 7"/>
          <p:cNvSpPr/>
          <p:nvPr/>
        </p:nvSpPr>
        <p:spPr>
          <a:xfrm>
            <a:off x="8215313" y="2108104"/>
            <a:ext cx="357188" cy="303609"/>
          </a:xfrm>
          <a:prstGeom prst="rect">
            <a:avLst/>
          </a:prstGeom>
          <a:noFill/>
          <a:ln/>
        </p:spPr>
        <p:txBody>
          <a:bodyPr wrap="none" lIns="0" tIns="0" rIns="0" bIns="0" rtlCol="0" anchor="t">
            <a:spAutoFit/>
          </a:bodyPr>
          <a:lstStyle/>
          <a:p>
            <a:pPr algn="ctr" indent="0" marL="0">
              <a:lnSpc>
                <a:spcPts val="2200"/>
              </a:lnSpc>
              <a:buNone/>
            </a:pPr>
            <a:r>
              <a:rPr lang="en-US" sz="1602" b="1" dirty="0">
                <a:solidFill>
                  <a:srgbClr val="D4AF37"/>
                </a:solidFill>
                <a:latin typeface="Playfair Display" pitchFamily="34" charset="0"/>
                <a:ea typeface="Playfair Display" pitchFamily="34" charset="-122"/>
                <a:cs typeface="Playfair Display" pitchFamily="34" charset="-120"/>
              </a:rPr>
              <a:t>③</a:t>
            </a:r>
            <a:endParaRPr lang="en-US" sz="1602" dirty="0"/>
          </a:p>
        </p:txBody>
      </p:sp>
      <p:sp>
        <p:nvSpPr>
          <p:cNvPr id="11" name="Text 8"/>
          <p:cNvSpPr/>
          <p:nvPr/>
        </p:nvSpPr>
        <p:spPr>
          <a:xfrm>
            <a:off x="4714875" y="2108104"/>
            <a:ext cx="3371850"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D4AF37"/>
                </a:solidFill>
                <a:latin typeface="Lato" pitchFamily="34" charset="0"/>
                <a:ea typeface="Lato" pitchFamily="34" charset="-122"/>
                <a:cs typeface="Lato" pitchFamily="34" charset="-120"/>
              </a:rPr>
              <a:t>تكامل EPO</a:t>
            </a:r>
            <a:endParaRPr lang="en-US" sz="885" dirty="0"/>
          </a:p>
        </p:txBody>
      </p:sp>
      <p:sp>
        <p:nvSpPr>
          <p:cNvPr id="12" name="Text 9"/>
          <p:cNvSpPr/>
          <p:nvPr/>
        </p:nvSpPr>
        <p:spPr>
          <a:xfrm>
            <a:off x="4714875" y="2308129"/>
            <a:ext cx="3371850" cy="36572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333333"/>
                </a:solidFill>
                <a:latin typeface="Lato" pitchFamily="34" charset="0"/>
                <a:ea typeface="Lato" pitchFamily="34" charset="-122"/>
                <a:cs typeface="Lato" pitchFamily="34" charset="-120"/>
              </a:rPr>
              <a:t>التحقق الفوري من براءات الاختراع الموجودة عبر قاعدة بيانات المكتب الأوروبي</a:t>
            </a:r>
            <a:endParaRPr lang="en-US" sz="834" dirty="0"/>
          </a:p>
        </p:txBody>
      </p:sp>
      <p:sp>
        <p:nvSpPr>
          <p:cNvPr id="13" name="Text 10"/>
          <p:cNvSpPr/>
          <p:nvPr/>
        </p:nvSpPr>
        <p:spPr>
          <a:xfrm>
            <a:off x="4071938" y="2108104"/>
            <a:ext cx="357188" cy="303609"/>
          </a:xfrm>
          <a:prstGeom prst="rect">
            <a:avLst/>
          </a:prstGeom>
          <a:noFill/>
          <a:ln/>
        </p:spPr>
        <p:txBody>
          <a:bodyPr wrap="none" lIns="0" tIns="0" rIns="0" bIns="0" rtlCol="0" anchor="t">
            <a:spAutoFit/>
          </a:bodyPr>
          <a:lstStyle/>
          <a:p>
            <a:pPr algn="ctr" indent="0" marL="0">
              <a:lnSpc>
                <a:spcPts val="2200"/>
              </a:lnSpc>
              <a:buNone/>
            </a:pPr>
            <a:r>
              <a:rPr lang="en-US" sz="1602" b="1" dirty="0">
                <a:solidFill>
                  <a:srgbClr val="D4AF37"/>
                </a:solidFill>
                <a:latin typeface="Playfair Display" pitchFamily="34" charset="0"/>
                <a:ea typeface="Playfair Display" pitchFamily="34" charset="-122"/>
                <a:cs typeface="Playfair Display" pitchFamily="34" charset="-120"/>
              </a:rPr>
              <a:t>④</a:t>
            </a:r>
            <a:endParaRPr lang="en-US" sz="1602" dirty="0"/>
          </a:p>
        </p:txBody>
      </p:sp>
      <p:sp>
        <p:nvSpPr>
          <p:cNvPr id="14" name="Text 11"/>
          <p:cNvSpPr/>
          <p:nvPr/>
        </p:nvSpPr>
        <p:spPr>
          <a:xfrm>
            <a:off x="571500" y="2108104"/>
            <a:ext cx="3371850"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D4AF37"/>
                </a:solidFill>
                <a:latin typeface="Lato" pitchFamily="34" charset="0"/>
                <a:ea typeface="Lato" pitchFamily="34" charset="-122"/>
                <a:cs typeface="Lato" pitchFamily="34" charset="-120"/>
              </a:rPr>
              <a:t>واجهة غنية</a:t>
            </a:r>
            <a:endParaRPr lang="en-US" sz="885" dirty="0"/>
          </a:p>
        </p:txBody>
      </p:sp>
      <p:sp>
        <p:nvSpPr>
          <p:cNvPr id="15" name="Text 12"/>
          <p:cNvSpPr/>
          <p:nvPr/>
        </p:nvSpPr>
        <p:spPr>
          <a:xfrm>
            <a:off x="571500" y="2308129"/>
            <a:ext cx="3371850" cy="182863"/>
          </a:xfrm>
          <a:prstGeom prst="rect">
            <a:avLst/>
          </a:prstGeom>
          <a:noFill/>
          <a:ln/>
        </p:spPr>
        <p:txBody>
          <a:bodyPr wrap="none" lIns="0" tIns="0" rIns="0" bIns="0" rtlCol="0" anchor="t">
            <a:spAutoFit/>
          </a:bodyPr>
          <a:lstStyle/>
          <a:p>
            <a:pPr algn="l" indent="0" marL="0">
              <a:lnSpc>
                <a:spcPts val="1400"/>
              </a:lnSpc>
              <a:buNone/>
            </a:pPr>
            <a:r>
              <a:rPr lang="en-US" sz="834" dirty="0">
                <a:solidFill>
                  <a:srgbClr val="333333"/>
                </a:solidFill>
                <a:latin typeface="Lato" pitchFamily="34" charset="0"/>
                <a:ea typeface="Lato" pitchFamily="34" charset="-122"/>
                <a:cs typeface="Lato" pitchFamily="34" charset="-120"/>
              </a:rPr>
              <a:t>عرض جميل وسهل الاستخدام مع تنسيق احترافي للمعلومات</a:t>
            </a:r>
            <a:endParaRPr lang="en-US" sz="834" dirty="0"/>
          </a:p>
        </p:txBody>
      </p:sp>
      <p:sp>
        <p:nvSpPr>
          <p:cNvPr id="16" name="Text 13"/>
          <p:cNvSpPr/>
          <p:nvPr/>
        </p:nvSpPr>
        <p:spPr>
          <a:xfrm>
            <a:off x="8215313" y="2916743"/>
            <a:ext cx="357188" cy="303609"/>
          </a:xfrm>
          <a:prstGeom prst="rect">
            <a:avLst/>
          </a:prstGeom>
          <a:noFill/>
          <a:ln/>
        </p:spPr>
        <p:txBody>
          <a:bodyPr wrap="none" lIns="0" tIns="0" rIns="0" bIns="0" rtlCol="0" anchor="t">
            <a:spAutoFit/>
          </a:bodyPr>
          <a:lstStyle/>
          <a:p>
            <a:pPr algn="ctr" indent="0" marL="0">
              <a:lnSpc>
                <a:spcPts val="2200"/>
              </a:lnSpc>
              <a:buNone/>
            </a:pPr>
            <a:r>
              <a:rPr lang="en-US" sz="1602" b="1" dirty="0">
                <a:solidFill>
                  <a:srgbClr val="D4AF37"/>
                </a:solidFill>
                <a:latin typeface="Playfair Display" pitchFamily="34" charset="0"/>
                <a:ea typeface="Playfair Display" pitchFamily="34" charset="-122"/>
                <a:cs typeface="Playfair Display" pitchFamily="34" charset="-120"/>
              </a:rPr>
              <a:t>⑤</a:t>
            </a:r>
            <a:endParaRPr lang="en-US" sz="1602" dirty="0"/>
          </a:p>
        </p:txBody>
      </p:sp>
      <p:sp>
        <p:nvSpPr>
          <p:cNvPr id="17" name="Text 14"/>
          <p:cNvSpPr/>
          <p:nvPr/>
        </p:nvSpPr>
        <p:spPr>
          <a:xfrm>
            <a:off x="4714875" y="2916743"/>
            <a:ext cx="3371850"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D4AF37"/>
                </a:solidFill>
                <a:latin typeface="Lato" pitchFamily="34" charset="0"/>
                <a:ea typeface="Lato" pitchFamily="34" charset="-122"/>
                <a:cs typeface="Lato" pitchFamily="34" charset="-120"/>
              </a:rPr>
              <a:t>التصدير التلقائي</a:t>
            </a:r>
            <a:endParaRPr lang="en-US" sz="885" dirty="0"/>
          </a:p>
        </p:txBody>
      </p:sp>
      <p:sp>
        <p:nvSpPr>
          <p:cNvPr id="18" name="Text 15"/>
          <p:cNvSpPr/>
          <p:nvPr/>
        </p:nvSpPr>
        <p:spPr>
          <a:xfrm>
            <a:off x="4714875" y="3116768"/>
            <a:ext cx="3371850" cy="36572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333333"/>
                </a:solidFill>
                <a:latin typeface="Lato" pitchFamily="34" charset="0"/>
                <a:ea typeface="Lato" pitchFamily="34" charset="-122"/>
                <a:cs typeface="Lato" pitchFamily="34" charset="-120"/>
              </a:rPr>
              <a:t>حفظ النتائج بصيغ متعددة (JSON و Markdown) جاهزة للمشاركة والاستخدام</a:t>
            </a:r>
            <a:endParaRPr lang="en-US" sz="83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8001000" cy="532209"/>
          </a:xfrm>
          <a:prstGeom prst="rect">
            <a:avLst/>
          </a:prstGeom>
          <a:noFill/>
          <a:ln/>
        </p:spPr>
        <p:txBody>
          <a:bodyPr wrap="none" lIns="0" tIns="0" rIns="0" bIns="0" rtlCol="0" anchor="t">
            <a:spAutoFit/>
          </a:bodyPr>
          <a:lstStyle/>
          <a:p>
            <a:pPr algn="l" indent="0" marL="0">
              <a:lnSpc>
                <a:spcPts val="3800"/>
              </a:lnSpc>
              <a:buNone/>
            </a:pPr>
            <a:r>
              <a:rPr lang="en-US" sz="2862" b="1" dirty="0">
                <a:solidFill>
                  <a:srgbClr val="0A192F"/>
                </a:solidFill>
                <a:latin typeface="Playfair Display" pitchFamily="34" charset="0"/>
                <a:ea typeface="Playfair Display" pitchFamily="34" charset="-122"/>
                <a:cs typeface="Playfair Display" pitchFamily="34" charset="-120"/>
              </a:rPr>
              <a:t>مجالات الابتكار</a:t>
            </a:r>
            <a:endParaRPr lang="en-US" sz="2862" dirty="0"/>
          </a:p>
        </p:txBody>
      </p:sp>
      <p:sp>
        <p:nvSpPr>
          <p:cNvPr id="4" name="Text 1"/>
          <p:cNvSpPr/>
          <p:nvPr/>
        </p:nvSpPr>
        <p:spPr>
          <a:xfrm>
            <a:off x="7567017" y="1496616"/>
            <a:ext cx="862608"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33333"/>
                </a:solidFill>
                <a:latin typeface="Lato" pitchFamily="34" charset="0"/>
                <a:ea typeface="Lato" pitchFamily="34" charset="-122"/>
                <a:cs typeface="Lato" pitchFamily="34" charset="-120"/>
              </a:rPr>
              <a:t>البيولوجيا الكمومية</a:t>
            </a:r>
            <a:endParaRPr lang="en-US" sz="784" dirty="0"/>
          </a:p>
        </p:txBody>
      </p:sp>
      <p:sp>
        <p:nvSpPr>
          <p:cNvPr id="5" name="Text 2"/>
          <p:cNvSpPr/>
          <p:nvPr/>
        </p:nvSpPr>
        <p:spPr>
          <a:xfrm>
            <a:off x="5393531" y="1496616"/>
            <a:ext cx="1035844"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33333"/>
                </a:solidFill>
                <a:latin typeface="Lato" pitchFamily="34" charset="0"/>
                <a:ea typeface="Lato" pitchFamily="34" charset="-122"/>
                <a:cs typeface="Lato" pitchFamily="34" charset="-120"/>
              </a:rPr>
              <a:t>المواد العصبية الشكلية</a:t>
            </a:r>
            <a:endParaRPr lang="en-US" sz="784" dirty="0"/>
          </a:p>
        </p:txBody>
      </p:sp>
      <p:sp>
        <p:nvSpPr>
          <p:cNvPr id="6" name="Text 3"/>
          <p:cNvSpPr/>
          <p:nvPr/>
        </p:nvSpPr>
        <p:spPr>
          <a:xfrm>
            <a:off x="7615238" y="1957388"/>
            <a:ext cx="814388"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33333"/>
                </a:solidFill>
                <a:latin typeface="Lato" pitchFamily="34" charset="0"/>
                <a:ea typeface="Lato" pitchFamily="34" charset="-122"/>
                <a:cs typeface="Lato" pitchFamily="34" charset="-120"/>
              </a:rPr>
              <a:t>الحوسبة الفوتونية</a:t>
            </a:r>
            <a:endParaRPr lang="en-US" sz="784" dirty="0"/>
          </a:p>
        </p:txBody>
      </p:sp>
      <p:sp>
        <p:nvSpPr>
          <p:cNvPr id="7" name="Text 4"/>
          <p:cNvSpPr/>
          <p:nvPr/>
        </p:nvSpPr>
        <p:spPr>
          <a:xfrm>
            <a:off x="5414963" y="1957388"/>
            <a:ext cx="1014413"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33333"/>
                </a:solidFill>
                <a:latin typeface="Lato" pitchFamily="34" charset="0"/>
                <a:ea typeface="Lato" pitchFamily="34" charset="-122"/>
                <a:cs typeface="Lato" pitchFamily="34" charset="-120"/>
              </a:rPr>
              <a:t>تخزين البيانات بـ DNA</a:t>
            </a:r>
            <a:endParaRPr lang="en-US" sz="784" dirty="0"/>
          </a:p>
        </p:txBody>
      </p:sp>
      <p:sp>
        <p:nvSpPr>
          <p:cNvPr id="8" name="Text 5"/>
          <p:cNvSpPr/>
          <p:nvPr/>
        </p:nvSpPr>
        <p:spPr>
          <a:xfrm>
            <a:off x="7613452" y="2418159"/>
            <a:ext cx="816173"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33333"/>
                </a:solidFill>
                <a:latin typeface="Lato" pitchFamily="34" charset="0"/>
                <a:ea typeface="Lato" pitchFamily="34" charset="-122"/>
                <a:cs typeface="Lato" pitchFamily="34" charset="-120"/>
              </a:rPr>
              <a:t>الروبوتات المبردة</a:t>
            </a:r>
            <a:endParaRPr lang="en-US" sz="784" dirty="0"/>
          </a:p>
        </p:txBody>
      </p:sp>
      <p:sp>
        <p:nvSpPr>
          <p:cNvPr id="9" name="Text 6"/>
          <p:cNvSpPr/>
          <p:nvPr/>
        </p:nvSpPr>
        <p:spPr>
          <a:xfrm>
            <a:off x="5281017" y="2418159"/>
            <a:ext cx="1148358"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33333"/>
                </a:solidFill>
                <a:latin typeface="Lato" pitchFamily="34" charset="0"/>
                <a:ea typeface="Lato" pitchFamily="34" charset="-122"/>
                <a:cs typeface="Lato" pitchFamily="34" charset="-120"/>
              </a:rPr>
              <a:t>حوسبة الشبكات الفطرية</a:t>
            </a:r>
            <a:endParaRPr lang="en-US" sz="784" dirty="0"/>
          </a:p>
        </p:txBody>
      </p:sp>
      <p:sp>
        <p:nvSpPr>
          <p:cNvPr id="10" name="Text 7"/>
          <p:cNvSpPr/>
          <p:nvPr/>
        </p:nvSpPr>
        <p:spPr>
          <a:xfrm>
            <a:off x="7134820" y="2878931"/>
            <a:ext cx="1294805"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33333"/>
                </a:solidFill>
                <a:latin typeface="Lato" pitchFamily="34" charset="0"/>
                <a:ea typeface="Lato" pitchFamily="34" charset="-122"/>
                <a:cs typeface="Lato" pitchFamily="34" charset="-120"/>
              </a:rPr>
              <a:t>أجهزة استشعار حيوية ضوئية</a:t>
            </a:r>
            <a:endParaRPr lang="en-US" sz="784" dirty="0"/>
          </a:p>
        </p:txBody>
      </p:sp>
      <p:sp>
        <p:nvSpPr>
          <p:cNvPr id="11" name="Text 8"/>
          <p:cNvSpPr/>
          <p:nvPr/>
        </p:nvSpPr>
        <p:spPr>
          <a:xfrm>
            <a:off x="5132784" y="2878931"/>
            <a:ext cx="1296591"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33333"/>
                </a:solidFill>
                <a:latin typeface="Lato" pitchFamily="34" charset="0"/>
                <a:ea typeface="Lato" pitchFamily="34" charset="-122"/>
                <a:cs typeface="Lato" pitchFamily="34" charset="-120"/>
              </a:rPr>
              <a:t>الاتصالات بالتشابك الكمومي</a:t>
            </a:r>
            <a:endParaRPr lang="en-US" sz="784" dirty="0"/>
          </a:p>
        </p:txBody>
      </p:sp>
      <p:sp>
        <p:nvSpPr>
          <p:cNvPr id="12" name="Text 9"/>
          <p:cNvSpPr/>
          <p:nvPr/>
        </p:nvSpPr>
        <p:spPr>
          <a:xfrm>
            <a:off x="7670602" y="3339703"/>
            <a:ext cx="759023"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33333"/>
                </a:solidFill>
                <a:latin typeface="Lato" pitchFamily="34" charset="0"/>
                <a:ea typeface="Lato" pitchFamily="34" charset="-122"/>
                <a:cs typeface="Lato" pitchFamily="34" charset="-120"/>
              </a:rPr>
              <a:t>العمارة المتحولة</a:t>
            </a:r>
            <a:endParaRPr lang="en-US" sz="784" dirty="0"/>
          </a:p>
        </p:txBody>
      </p:sp>
      <p:sp>
        <p:nvSpPr>
          <p:cNvPr id="13" name="Text 10"/>
          <p:cNvSpPr/>
          <p:nvPr/>
        </p:nvSpPr>
        <p:spPr>
          <a:xfrm>
            <a:off x="5423892" y="3339703"/>
            <a:ext cx="1005483"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33333"/>
                </a:solidFill>
                <a:latin typeface="Lato" pitchFamily="34" charset="0"/>
                <a:ea typeface="Lato" pitchFamily="34" charset="-122"/>
                <a:cs typeface="Lato" pitchFamily="34" charset="-120"/>
              </a:rPr>
              <a:t>الإدراك الكهروكيميائي</a:t>
            </a:r>
            <a:endParaRPr lang="en-US" sz="784" dirty="0"/>
          </a:p>
        </p:txBody>
      </p:sp>
      <p:pic>
        <p:nvPicPr>
          <p:cNvPr id="14" name="Image 1" descr="preencoded.png">    </p:cNvPr>
          <p:cNvPicPr>
            <a:picLocks noChangeAspect="1"/>
          </p:cNvPicPr>
          <p:nvPr/>
        </p:nvPicPr>
        <p:blipFill>
          <a:blip r:embed="rId2"/>
          <a:stretch>
            <a:fillRect/>
          </a:stretch>
        </p:blipFill>
        <p:spPr>
          <a:xfrm>
            <a:off x="1107281" y="1410891"/>
            <a:ext cx="2714625" cy="27146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6429375" y="571500"/>
            <a:ext cx="2143125" cy="960109"/>
          </a:xfrm>
          <a:prstGeom prst="rect">
            <a:avLst/>
          </a:prstGeom>
          <a:noFill/>
          <a:ln/>
        </p:spPr>
        <p:txBody>
          <a:bodyPr wrap="square" lIns="0" tIns="0" rIns="0" bIns="0" rtlCol="0" anchor="t">
            <a:spAutoFit/>
          </a:bodyPr>
          <a:lstStyle/>
          <a:p>
            <a:pPr algn="l" indent="0" marL="0">
              <a:lnSpc>
                <a:spcPts val="3800"/>
              </a:lnSpc>
              <a:buNone/>
            </a:pPr>
            <a:r>
              <a:rPr lang="en-US" sz="2862" b="1" dirty="0">
                <a:solidFill>
                  <a:srgbClr val="0A192F"/>
                </a:solidFill>
                <a:latin typeface="Playfair Display" pitchFamily="34" charset="0"/>
                <a:ea typeface="Playfair Display" pitchFamily="34" charset="-122"/>
                <a:cs typeface="Playfair Display" pitchFamily="34" charset="-120"/>
              </a:rPr>
              <a:t>المكدس التقني</a:t>
            </a:r>
            <a:endParaRPr lang="en-US" sz="2862" dirty="0"/>
          </a:p>
        </p:txBody>
      </p:sp>
      <p:sp>
        <p:nvSpPr>
          <p:cNvPr id="4" name="Shape 1"/>
          <p:cNvSpPr/>
          <p:nvPr/>
        </p:nvSpPr>
        <p:spPr>
          <a:xfrm>
            <a:off x="5572125" y="571500"/>
            <a:ext cx="285750" cy="285750"/>
          </a:xfrm>
          <a:prstGeom prst="rect">
            <a:avLst/>
          </a:prstGeom>
          <a:solidFill>
            <a:srgbClr val="D4AF37"/>
          </a:solidFill>
          <a:ln/>
        </p:spPr>
      </p:sp>
      <p:sp>
        <p:nvSpPr>
          <p:cNvPr id="5" name="Text 2"/>
          <p:cNvSpPr/>
          <p:nvPr/>
        </p:nvSpPr>
        <p:spPr>
          <a:xfrm>
            <a:off x="5572125" y="571500"/>
            <a:ext cx="285750" cy="285750"/>
          </a:xfrm>
          <a:prstGeom prst="rect">
            <a:avLst/>
          </a:prstGeom>
          <a:noFill/>
          <a:ln/>
        </p:spPr>
        <p:txBody>
          <a:bodyPr wrap="square" lIns="0" tIns="0" rIns="0" bIns="0" rtlCol="0" anchor="ctr">
            <a:spAutoFit/>
          </a:bodyPr>
          <a:lstStyle/>
          <a:p>
            <a:pPr algn="ctr" indent="0" marL="0">
              <a:lnSpc>
                <a:spcPts val="1200"/>
              </a:lnSpc>
              <a:buNone/>
            </a:pPr>
            <a:r>
              <a:rPr lang="en-US" sz="885" b="1" dirty="0">
                <a:solidFill>
                  <a:srgbClr val="0A192F"/>
                </a:solidFill>
                <a:latin typeface="Times New Roman" pitchFamily="34" charset="0"/>
                <a:ea typeface="Times New Roman" pitchFamily="34" charset="-122"/>
                <a:cs typeface="Times New Roman" pitchFamily="34" charset="-120"/>
              </a:rPr>
              <a:t>①</a:t>
            </a:r>
            <a:endParaRPr lang="en-US" sz="885" dirty="0"/>
          </a:p>
        </p:txBody>
      </p:sp>
      <p:sp>
        <p:nvSpPr>
          <p:cNvPr id="6" name="Text 3"/>
          <p:cNvSpPr/>
          <p:nvPr/>
        </p:nvSpPr>
        <p:spPr>
          <a:xfrm>
            <a:off x="3816548" y="571500"/>
            <a:ext cx="1648420" cy="171450"/>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A192F"/>
                </a:solidFill>
                <a:latin typeface="Playfair Display" pitchFamily="34" charset="0"/>
                <a:ea typeface="Playfair Display" pitchFamily="34" charset="-122"/>
                <a:cs typeface="Playfair Display" pitchFamily="34" charset="-120"/>
              </a:rPr>
              <a:t>لغة البرمجة</a:t>
            </a:r>
            <a:endParaRPr lang="en-US" sz="885" dirty="0"/>
          </a:p>
        </p:txBody>
      </p:sp>
      <p:sp>
        <p:nvSpPr>
          <p:cNvPr id="7" name="Text 4"/>
          <p:cNvSpPr/>
          <p:nvPr/>
        </p:nvSpPr>
        <p:spPr>
          <a:xfrm>
            <a:off x="3816548" y="778669"/>
            <a:ext cx="1648420"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Python 3.11 - لغة قوية وسهلة الاستخدام</a:t>
            </a:r>
            <a:endParaRPr lang="en-US" sz="727" dirty="0"/>
          </a:p>
        </p:txBody>
      </p:sp>
      <p:sp>
        <p:nvSpPr>
          <p:cNvPr id="8" name="Shape 5"/>
          <p:cNvSpPr/>
          <p:nvPr/>
        </p:nvSpPr>
        <p:spPr>
          <a:xfrm>
            <a:off x="5572125" y="1107281"/>
            <a:ext cx="285750" cy="285750"/>
          </a:xfrm>
          <a:prstGeom prst="rect">
            <a:avLst/>
          </a:prstGeom>
          <a:solidFill>
            <a:srgbClr val="D4AF37"/>
          </a:solidFill>
          <a:ln/>
        </p:spPr>
      </p:sp>
      <p:sp>
        <p:nvSpPr>
          <p:cNvPr id="9" name="Text 6"/>
          <p:cNvSpPr/>
          <p:nvPr/>
        </p:nvSpPr>
        <p:spPr>
          <a:xfrm>
            <a:off x="5572125" y="1107281"/>
            <a:ext cx="285750" cy="285750"/>
          </a:xfrm>
          <a:prstGeom prst="rect">
            <a:avLst/>
          </a:prstGeom>
          <a:noFill/>
          <a:ln/>
        </p:spPr>
        <p:txBody>
          <a:bodyPr wrap="square" lIns="0" tIns="0" rIns="0" bIns="0" rtlCol="0" anchor="ctr">
            <a:spAutoFit/>
          </a:bodyPr>
          <a:lstStyle/>
          <a:p>
            <a:pPr algn="ctr" indent="0" marL="0">
              <a:lnSpc>
                <a:spcPts val="1200"/>
              </a:lnSpc>
              <a:buNone/>
            </a:pPr>
            <a:r>
              <a:rPr lang="en-US" sz="885" b="1" dirty="0">
                <a:solidFill>
                  <a:srgbClr val="0A192F"/>
                </a:solidFill>
                <a:latin typeface="Times New Roman" pitchFamily="34" charset="0"/>
                <a:ea typeface="Times New Roman" pitchFamily="34" charset="-122"/>
                <a:cs typeface="Times New Roman" pitchFamily="34" charset="-120"/>
              </a:rPr>
              <a:t>②</a:t>
            </a:r>
            <a:endParaRPr lang="en-US" sz="885" dirty="0"/>
          </a:p>
        </p:txBody>
      </p:sp>
      <p:sp>
        <p:nvSpPr>
          <p:cNvPr id="10" name="Text 7"/>
          <p:cNvSpPr/>
          <p:nvPr/>
        </p:nvSpPr>
        <p:spPr>
          <a:xfrm>
            <a:off x="3180755" y="1107281"/>
            <a:ext cx="2284214" cy="171450"/>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A192F"/>
                </a:solidFill>
                <a:latin typeface="Playfair Display" pitchFamily="34" charset="0"/>
                <a:ea typeface="Playfair Display" pitchFamily="34" charset="-122"/>
                <a:cs typeface="Playfair Display" pitchFamily="34" charset="-120"/>
              </a:rPr>
              <a:t>نموذج الذكاء الاصطناعي</a:t>
            </a:r>
            <a:endParaRPr lang="en-US" sz="885" dirty="0"/>
          </a:p>
        </p:txBody>
      </p:sp>
      <p:sp>
        <p:nvSpPr>
          <p:cNvPr id="11" name="Text 8"/>
          <p:cNvSpPr/>
          <p:nvPr/>
        </p:nvSpPr>
        <p:spPr>
          <a:xfrm>
            <a:off x="3180755" y="1314450"/>
            <a:ext cx="2284214"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Ollama (llama3 4.7GB) - نموذج متقدم للمعالجة الطبيعية</a:t>
            </a:r>
            <a:endParaRPr lang="en-US" sz="727" dirty="0"/>
          </a:p>
        </p:txBody>
      </p:sp>
      <p:sp>
        <p:nvSpPr>
          <p:cNvPr id="12" name="Shape 9"/>
          <p:cNvSpPr/>
          <p:nvPr/>
        </p:nvSpPr>
        <p:spPr>
          <a:xfrm>
            <a:off x="5572125" y="1643063"/>
            <a:ext cx="285750" cy="285750"/>
          </a:xfrm>
          <a:prstGeom prst="rect">
            <a:avLst/>
          </a:prstGeom>
          <a:solidFill>
            <a:srgbClr val="D4AF37"/>
          </a:solidFill>
          <a:ln/>
        </p:spPr>
      </p:sp>
      <p:sp>
        <p:nvSpPr>
          <p:cNvPr id="13" name="Text 10"/>
          <p:cNvSpPr/>
          <p:nvPr/>
        </p:nvSpPr>
        <p:spPr>
          <a:xfrm>
            <a:off x="5572125" y="1643063"/>
            <a:ext cx="285750" cy="285750"/>
          </a:xfrm>
          <a:prstGeom prst="rect">
            <a:avLst/>
          </a:prstGeom>
          <a:noFill/>
          <a:ln/>
        </p:spPr>
        <p:txBody>
          <a:bodyPr wrap="square" lIns="0" tIns="0" rIns="0" bIns="0" rtlCol="0" anchor="ctr">
            <a:spAutoFit/>
          </a:bodyPr>
          <a:lstStyle/>
          <a:p>
            <a:pPr algn="ctr" indent="0" marL="0">
              <a:lnSpc>
                <a:spcPts val="1200"/>
              </a:lnSpc>
              <a:buNone/>
            </a:pPr>
            <a:r>
              <a:rPr lang="en-US" sz="885" b="1" dirty="0">
                <a:solidFill>
                  <a:srgbClr val="0A192F"/>
                </a:solidFill>
                <a:latin typeface="Times New Roman" pitchFamily="34" charset="0"/>
                <a:ea typeface="Times New Roman" pitchFamily="34" charset="-122"/>
                <a:cs typeface="Times New Roman" pitchFamily="34" charset="-120"/>
              </a:rPr>
              <a:t>③</a:t>
            </a:r>
            <a:endParaRPr lang="en-US" sz="885" dirty="0"/>
          </a:p>
        </p:txBody>
      </p:sp>
      <p:sp>
        <p:nvSpPr>
          <p:cNvPr id="14" name="Text 11"/>
          <p:cNvSpPr/>
          <p:nvPr/>
        </p:nvSpPr>
        <p:spPr>
          <a:xfrm>
            <a:off x="2970014" y="1643063"/>
            <a:ext cx="2494955" cy="171450"/>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A192F"/>
                </a:solidFill>
                <a:latin typeface="Playfair Display" pitchFamily="34" charset="0"/>
                <a:ea typeface="Playfair Display" pitchFamily="34" charset="-122"/>
                <a:cs typeface="Playfair Display" pitchFamily="34" charset="-120"/>
              </a:rPr>
              <a:t>التكامل الدولي</a:t>
            </a:r>
            <a:endParaRPr lang="en-US" sz="885" dirty="0"/>
          </a:p>
        </p:txBody>
      </p:sp>
      <p:sp>
        <p:nvSpPr>
          <p:cNvPr id="15" name="Text 12"/>
          <p:cNvSpPr/>
          <p:nvPr/>
        </p:nvSpPr>
        <p:spPr>
          <a:xfrm>
            <a:off x="2970014" y="1850231"/>
            <a:ext cx="2494955"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EPO Open Patent Services API - للتحقق من براءات الاختراع</a:t>
            </a:r>
            <a:endParaRPr lang="en-US" sz="727" dirty="0"/>
          </a:p>
        </p:txBody>
      </p:sp>
      <p:sp>
        <p:nvSpPr>
          <p:cNvPr id="16" name="Shape 13"/>
          <p:cNvSpPr/>
          <p:nvPr/>
        </p:nvSpPr>
        <p:spPr>
          <a:xfrm>
            <a:off x="5572125" y="2178844"/>
            <a:ext cx="285750" cy="285750"/>
          </a:xfrm>
          <a:prstGeom prst="rect">
            <a:avLst/>
          </a:prstGeom>
          <a:solidFill>
            <a:srgbClr val="D4AF37"/>
          </a:solidFill>
          <a:ln/>
        </p:spPr>
      </p:sp>
      <p:sp>
        <p:nvSpPr>
          <p:cNvPr id="17" name="Text 14"/>
          <p:cNvSpPr/>
          <p:nvPr/>
        </p:nvSpPr>
        <p:spPr>
          <a:xfrm>
            <a:off x="5572125" y="2178844"/>
            <a:ext cx="285750" cy="285750"/>
          </a:xfrm>
          <a:prstGeom prst="rect">
            <a:avLst/>
          </a:prstGeom>
          <a:noFill/>
          <a:ln/>
        </p:spPr>
        <p:txBody>
          <a:bodyPr wrap="square" lIns="0" tIns="0" rIns="0" bIns="0" rtlCol="0" anchor="ctr">
            <a:spAutoFit/>
          </a:bodyPr>
          <a:lstStyle/>
          <a:p>
            <a:pPr algn="ctr" indent="0" marL="0">
              <a:lnSpc>
                <a:spcPts val="1200"/>
              </a:lnSpc>
              <a:buNone/>
            </a:pPr>
            <a:r>
              <a:rPr lang="en-US" sz="885" b="1" dirty="0">
                <a:solidFill>
                  <a:srgbClr val="0A192F"/>
                </a:solidFill>
                <a:latin typeface="Times New Roman" pitchFamily="34" charset="0"/>
                <a:ea typeface="Times New Roman" pitchFamily="34" charset="-122"/>
                <a:cs typeface="Times New Roman" pitchFamily="34" charset="-120"/>
              </a:rPr>
              <a:t>④</a:t>
            </a:r>
            <a:endParaRPr lang="en-US" sz="885" dirty="0"/>
          </a:p>
        </p:txBody>
      </p:sp>
      <p:sp>
        <p:nvSpPr>
          <p:cNvPr id="18" name="Text 15"/>
          <p:cNvSpPr/>
          <p:nvPr/>
        </p:nvSpPr>
        <p:spPr>
          <a:xfrm>
            <a:off x="3512939" y="2178844"/>
            <a:ext cx="1952030" cy="171450"/>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A192F"/>
                </a:solidFill>
                <a:latin typeface="Playfair Display" pitchFamily="34" charset="0"/>
                <a:ea typeface="Playfair Display" pitchFamily="34" charset="-122"/>
                <a:cs typeface="Playfair Display" pitchFamily="34" charset="-120"/>
              </a:rPr>
              <a:t>واجهة المستخدم</a:t>
            </a:r>
            <a:endParaRPr lang="en-US" sz="885" dirty="0"/>
          </a:p>
        </p:txBody>
      </p:sp>
      <p:sp>
        <p:nvSpPr>
          <p:cNvPr id="19" name="Text 16"/>
          <p:cNvSpPr/>
          <p:nvPr/>
        </p:nvSpPr>
        <p:spPr>
          <a:xfrm>
            <a:off x="3512939" y="2386013"/>
            <a:ext cx="1952030"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Rich CLI - عرض جميل وتفاعلي في سطر الأوامر</a:t>
            </a:r>
            <a:endParaRPr lang="en-US" sz="727" dirty="0"/>
          </a:p>
        </p:txBody>
      </p:sp>
      <p:sp>
        <p:nvSpPr>
          <p:cNvPr id="20" name="Shape 17"/>
          <p:cNvSpPr/>
          <p:nvPr/>
        </p:nvSpPr>
        <p:spPr>
          <a:xfrm>
            <a:off x="5572125" y="2714625"/>
            <a:ext cx="285750" cy="285750"/>
          </a:xfrm>
          <a:prstGeom prst="rect">
            <a:avLst/>
          </a:prstGeom>
          <a:solidFill>
            <a:srgbClr val="D4AF37"/>
          </a:solidFill>
          <a:ln/>
        </p:spPr>
      </p:sp>
      <p:sp>
        <p:nvSpPr>
          <p:cNvPr id="21" name="Text 18"/>
          <p:cNvSpPr/>
          <p:nvPr/>
        </p:nvSpPr>
        <p:spPr>
          <a:xfrm>
            <a:off x="5572125" y="2714625"/>
            <a:ext cx="285750" cy="285750"/>
          </a:xfrm>
          <a:prstGeom prst="rect">
            <a:avLst/>
          </a:prstGeom>
          <a:noFill/>
          <a:ln/>
        </p:spPr>
        <p:txBody>
          <a:bodyPr wrap="square" lIns="0" tIns="0" rIns="0" bIns="0" rtlCol="0" anchor="ctr">
            <a:spAutoFit/>
          </a:bodyPr>
          <a:lstStyle/>
          <a:p>
            <a:pPr algn="ctr" indent="0" marL="0">
              <a:lnSpc>
                <a:spcPts val="1200"/>
              </a:lnSpc>
              <a:buNone/>
            </a:pPr>
            <a:r>
              <a:rPr lang="en-US" sz="885" b="1" dirty="0">
                <a:solidFill>
                  <a:srgbClr val="0A192F"/>
                </a:solidFill>
                <a:latin typeface="Times New Roman" pitchFamily="34" charset="0"/>
                <a:ea typeface="Times New Roman" pitchFamily="34" charset="-122"/>
                <a:cs typeface="Times New Roman" pitchFamily="34" charset="-120"/>
              </a:rPr>
              <a:t>⑤</a:t>
            </a:r>
            <a:endParaRPr lang="en-US" sz="885" dirty="0"/>
          </a:p>
        </p:txBody>
      </p:sp>
      <p:sp>
        <p:nvSpPr>
          <p:cNvPr id="22" name="Text 19"/>
          <p:cNvSpPr/>
          <p:nvPr/>
        </p:nvSpPr>
        <p:spPr>
          <a:xfrm>
            <a:off x="3196828" y="2714625"/>
            <a:ext cx="2268141" cy="171450"/>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A192F"/>
                </a:solidFill>
                <a:latin typeface="Playfair Display" pitchFamily="34" charset="0"/>
                <a:ea typeface="Playfair Display" pitchFamily="34" charset="-122"/>
                <a:cs typeface="Playfair Display" pitchFamily="34" charset="-120"/>
              </a:rPr>
              <a:t>المكتبات الداعمة</a:t>
            </a:r>
            <a:endParaRPr lang="en-US" sz="885" dirty="0"/>
          </a:p>
        </p:txBody>
      </p:sp>
      <p:sp>
        <p:nvSpPr>
          <p:cNvPr id="23" name="Text 20"/>
          <p:cNvSpPr/>
          <p:nvPr/>
        </p:nvSpPr>
        <p:spPr>
          <a:xfrm>
            <a:off x="3196828" y="2921794"/>
            <a:ext cx="2268141"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requests, python-dotenv, rich - مكتبات موثوقة ومجربة</a:t>
            </a:r>
            <a:endParaRPr lang="en-US" sz="72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8001000" cy="532209"/>
          </a:xfrm>
          <a:prstGeom prst="rect">
            <a:avLst/>
          </a:prstGeom>
          <a:noFill/>
          <a:ln/>
        </p:spPr>
        <p:txBody>
          <a:bodyPr wrap="none" lIns="0" tIns="0" rIns="0" bIns="0" rtlCol="0" anchor="t">
            <a:spAutoFit/>
          </a:bodyPr>
          <a:lstStyle/>
          <a:p>
            <a:pPr algn="l" indent="0" marL="0">
              <a:lnSpc>
                <a:spcPts val="3800"/>
              </a:lnSpc>
              <a:buNone/>
            </a:pPr>
            <a:r>
              <a:rPr lang="en-US" sz="2862" b="1" dirty="0">
                <a:solidFill>
                  <a:srgbClr val="0A192F"/>
                </a:solidFill>
                <a:latin typeface="Playfair Display" pitchFamily="34" charset="0"/>
                <a:ea typeface="Playfair Display" pitchFamily="34" charset="-122"/>
                <a:cs typeface="Playfair Display" pitchFamily="34" charset="-120"/>
              </a:rPr>
              <a:t>تقديم الطلب الرسمي لـ INAPI</a:t>
            </a:r>
            <a:endParaRPr lang="en-US" sz="2862" dirty="0"/>
          </a:p>
        </p:txBody>
      </p:sp>
      <p:sp>
        <p:nvSpPr>
          <p:cNvPr id="4" name="Text 1"/>
          <p:cNvSpPr/>
          <p:nvPr/>
        </p:nvSpPr>
        <p:spPr>
          <a:xfrm>
            <a:off x="571500" y="1810941"/>
            <a:ext cx="7793831" cy="94655"/>
          </a:xfrm>
          <a:prstGeom prst="rect">
            <a:avLst/>
          </a:prstGeom>
          <a:noFill/>
          <a:ln/>
        </p:spPr>
        <p:txBody>
          <a:bodyPr wrap="none" lIns="0" tIns="0" rIns="0" bIns="0" rtlCol="0" anchor="t">
            <a:spAutoFit/>
          </a:bodyPr>
          <a:lstStyle/>
          <a:p>
            <a:pPr algn="l" indent="0" marL="0">
              <a:lnSpc>
                <a:spcPts val="700"/>
              </a:lnSpc>
              <a:buNone/>
            </a:pPr>
            <a:r>
              <a:rPr lang="en-US" sz="568" spc="2" kern="0" dirty="0">
                <a:solidFill>
                  <a:srgbClr val="999999"/>
                </a:solidFill>
                <a:latin typeface="Lato" pitchFamily="34" charset="0"/>
                <a:ea typeface="Lato" pitchFamily="34" charset="-122"/>
                <a:cs typeface="Lato" pitchFamily="34" charset="-120"/>
              </a:rPr>
              <a:t>اسم المتقدم</a:t>
            </a:r>
            <a:endParaRPr lang="en-US" sz="568" dirty="0"/>
          </a:p>
        </p:txBody>
      </p:sp>
      <p:sp>
        <p:nvSpPr>
          <p:cNvPr id="5" name="Text 2"/>
          <p:cNvSpPr/>
          <p:nvPr/>
        </p:nvSpPr>
        <p:spPr>
          <a:xfrm>
            <a:off x="571500" y="1948458"/>
            <a:ext cx="7793831" cy="205718"/>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0A192F"/>
                </a:solidFill>
                <a:latin typeface="Lato" pitchFamily="34" charset="0"/>
                <a:ea typeface="Lato" pitchFamily="34" charset="-122"/>
                <a:cs typeface="Lato" pitchFamily="34" charset="-120"/>
              </a:rPr>
              <a:t>بن لعلالي محند أمين</a:t>
            </a:r>
            <a:endParaRPr lang="en-US" sz="885" dirty="0"/>
          </a:p>
        </p:txBody>
      </p:sp>
      <p:sp>
        <p:nvSpPr>
          <p:cNvPr id="6" name="Text 3"/>
          <p:cNvSpPr/>
          <p:nvPr/>
        </p:nvSpPr>
        <p:spPr>
          <a:xfrm>
            <a:off x="571500" y="2189894"/>
            <a:ext cx="7793831" cy="132159"/>
          </a:xfrm>
          <a:prstGeom prst="rect">
            <a:avLst/>
          </a:prstGeom>
          <a:noFill/>
          <a:ln/>
        </p:spPr>
        <p:txBody>
          <a:bodyPr wrap="none" lIns="0" tIns="0" rIns="0" bIns="0" rtlCol="0" anchor="t">
            <a:spAutoFit/>
          </a:bodyPr>
          <a:lstStyle/>
          <a:p>
            <a:pPr algn="l" indent="0" marL="0">
              <a:lnSpc>
                <a:spcPts val="1100"/>
              </a:lnSpc>
              <a:buNone/>
            </a:pPr>
            <a:r>
              <a:rPr lang="en-US" sz="834" dirty="0">
                <a:solidFill>
                  <a:srgbClr val="333333"/>
                </a:solidFill>
                <a:latin typeface="Times New Roman" pitchFamily="34" charset="0"/>
                <a:ea typeface="Times New Roman" pitchFamily="34" charset="-122"/>
                <a:cs typeface="Times New Roman" pitchFamily="34" charset="-120"/>
              </a:rPr>
              <a:t>Benlehlali Mohand Amine</a:t>
            </a:r>
            <a:endParaRPr lang="en-US" sz="834" dirty="0"/>
          </a:p>
        </p:txBody>
      </p:sp>
      <p:sp>
        <p:nvSpPr>
          <p:cNvPr id="7" name="Text 4"/>
          <p:cNvSpPr/>
          <p:nvPr/>
        </p:nvSpPr>
        <p:spPr>
          <a:xfrm>
            <a:off x="571500" y="2493504"/>
            <a:ext cx="7793831" cy="94655"/>
          </a:xfrm>
          <a:prstGeom prst="rect">
            <a:avLst/>
          </a:prstGeom>
          <a:noFill/>
          <a:ln/>
        </p:spPr>
        <p:txBody>
          <a:bodyPr wrap="none" lIns="0" tIns="0" rIns="0" bIns="0" rtlCol="0" anchor="t">
            <a:spAutoFit/>
          </a:bodyPr>
          <a:lstStyle/>
          <a:p>
            <a:pPr algn="l" indent="0" marL="0">
              <a:lnSpc>
                <a:spcPts val="700"/>
              </a:lnSpc>
              <a:buNone/>
            </a:pPr>
            <a:r>
              <a:rPr lang="en-US" sz="568" spc="2" kern="0" dirty="0">
                <a:solidFill>
                  <a:srgbClr val="999999"/>
                </a:solidFill>
                <a:latin typeface="Lato" pitchFamily="34" charset="0"/>
                <a:ea typeface="Lato" pitchFamily="34" charset="-122"/>
                <a:cs typeface="Lato" pitchFamily="34" charset="-120"/>
              </a:rPr>
              <a:t>العنوان الرسمي</a:t>
            </a:r>
            <a:endParaRPr lang="en-US" sz="568" dirty="0"/>
          </a:p>
        </p:txBody>
      </p:sp>
      <p:sp>
        <p:nvSpPr>
          <p:cNvPr id="8" name="Text 5"/>
          <p:cNvSpPr/>
          <p:nvPr/>
        </p:nvSpPr>
        <p:spPr>
          <a:xfrm>
            <a:off x="571500" y="2631021"/>
            <a:ext cx="7793831" cy="133945"/>
          </a:xfrm>
          <a:prstGeom prst="rect">
            <a:avLst/>
          </a:prstGeom>
          <a:noFill/>
          <a:ln/>
        </p:spPr>
        <p:txBody>
          <a:bodyPr wrap="none" lIns="0" tIns="0" rIns="0" bIns="0" rtlCol="0" anchor="t">
            <a:spAutoFit/>
          </a:bodyPr>
          <a:lstStyle/>
          <a:p>
            <a:pPr algn="l" indent="0" marL="0">
              <a:lnSpc>
                <a:spcPts val="1100"/>
              </a:lnSpc>
              <a:buNone/>
            </a:pPr>
            <a:r>
              <a:rPr lang="en-US" sz="834" dirty="0">
                <a:solidFill>
                  <a:srgbClr val="333333"/>
                </a:solidFill>
                <a:latin typeface="Times New Roman" pitchFamily="34" charset="0"/>
                <a:ea typeface="Times New Roman" pitchFamily="34" charset="-122"/>
                <a:cs typeface="Times New Roman" pitchFamily="34" charset="-120"/>
              </a:rPr>
              <a:t>16، حي ابن خميس، تلمسان، الجزائر</a:t>
            </a:r>
            <a:endParaRPr lang="en-US" sz="834" dirty="0"/>
          </a:p>
        </p:txBody>
      </p:sp>
      <p:sp>
        <p:nvSpPr>
          <p:cNvPr id="9" name="Text 6"/>
          <p:cNvSpPr/>
          <p:nvPr/>
        </p:nvSpPr>
        <p:spPr>
          <a:xfrm>
            <a:off x="4714875" y="3079291"/>
            <a:ext cx="3650456" cy="94655"/>
          </a:xfrm>
          <a:prstGeom prst="rect">
            <a:avLst/>
          </a:prstGeom>
          <a:noFill/>
          <a:ln/>
        </p:spPr>
        <p:txBody>
          <a:bodyPr wrap="none" lIns="0" tIns="0" rIns="0" bIns="0" rtlCol="0" anchor="t">
            <a:spAutoFit/>
          </a:bodyPr>
          <a:lstStyle/>
          <a:p>
            <a:pPr algn="l" indent="0" marL="0">
              <a:lnSpc>
                <a:spcPts val="700"/>
              </a:lnSpc>
              <a:buNone/>
            </a:pPr>
            <a:r>
              <a:rPr lang="en-US" sz="568" spc="2" kern="0" dirty="0">
                <a:solidFill>
                  <a:srgbClr val="999999"/>
                </a:solidFill>
                <a:latin typeface="Lato" pitchFamily="34" charset="0"/>
                <a:ea typeface="Lato" pitchFamily="34" charset="-122"/>
                <a:cs typeface="Lato" pitchFamily="34" charset="-120"/>
              </a:rPr>
              <a:t>رقم الهاتف</a:t>
            </a:r>
            <a:endParaRPr lang="en-US" sz="568" dirty="0"/>
          </a:p>
        </p:txBody>
      </p:sp>
      <p:sp>
        <p:nvSpPr>
          <p:cNvPr id="10" name="Text 7"/>
          <p:cNvSpPr/>
          <p:nvPr/>
        </p:nvSpPr>
        <p:spPr>
          <a:xfrm>
            <a:off x="4714875" y="3216808"/>
            <a:ext cx="3650456" cy="205718"/>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0A192F"/>
                </a:solidFill>
                <a:latin typeface="Lato" pitchFamily="34" charset="0"/>
                <a:ea typeface="Lato" pitchFamily="34" charset="-122"/>
                <a:cs typeface="Lato" pitchFamily="34" charset="-120"/>
              </a:rPr>
              <a:t>+213 659 45 45 73</a:t>
            </a:r>
            <a:endParaRPr lang="en-US" sz="885" dirty="0"/>
          </a:p>
        </p:txBody>
      </p:sp>
      <p:sp>
        <p:nvSpPr>
          <p:cNvPr id="11" name="Text 8"/>
          <p:cNvSpPr/>
          <p:nvPr/>
        </p:nvSpPr>
        <p:spPr>
          <a:xfrm>
            <a:off x="571500" y="3079291"/>
            <a:ext cx="3650456" cy="94655"/>
          </a:xfrm>
          <a:prstGeom prst="rect">
            <a:avLst/>
          </a:prstGeom>
          <a:noFill/>
          <a:ln/>
        </p:spPr>
        <p:txBody>
          <a:bodyPr wrap="none" lIns="0" tIns="0" rIns="0" bIns="0" rtlCol="0" anchor="t">
            <a:spAutoFit/>
          </a:bodyPr>
          <a:lstStyle/>
          <a:p>
            <a:pPr algn="l" indent="0" marL="0">
              <a:lnSpc>
                <a:spcPts val="700"/>
              </a:lnSpc>
              <a:buNone/>
            </a:pPr>
            <a:r>
              <a:rPr lang="en-US" sz="568" spc="2" kern="0" dirty="0">
                <a:solidFill>
                  <a:srgbClr val="999999"/>
                </a:solidFill>
                <a:latin typeface="Lato" pitchFamily="34" charset="0"/>
                <a:ea typeface="Lato" pitchFamily="34" charset="-122"/>
                <a:cs typeface="Lato" pitchFamily="34" charset="-120"/>
              </a:rPr>
              <a:t>الصفة</a:t>
            </a:r>
            <a:endParaRPr lang="en-US" sz="568" dirty="0"/>
          </a:p>
        </p:txBody>
      </p:sp>
      <p:sp>
        <p:nvSpPr>
          <p:cNvPr id="12" name="Text 9"/>
          <p:cNvSpPr/>
          <p:nvPr/>
        </p:nvSpPr>
        <p:spPr>
          <a:xfrm>
            <a:off x="571500" y="3216808"/>
            <a:ext cx="3650456" cy="205718"/>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0A192F"/>
                </a:solidFill>
                <a:latin typeface="Lato" pitchFamily="34" charset="0"/>
                <a:ea typeface="Lato" pitchFamily="34" charset="-122"/>
                <a:cs typeface="Lato" pitchFamily="34" charset="-120"/>
              </a:rPr>
              <a:t>مخترع</a:t>
            </a:r>
            <a:endParaRPr lang="en-US" sz="885" dirty="0"/>
          </a:p>
        </p:txBody>
      </p:sp>
      <p:sp>
        <p:nvSpPr>
          <p:cNvPr id="13" name="Text 10"/>
          <p:cNvSpPr/>
          <p:nvPr/>
        </p:nvSpPr>
        <p:spPr>
          <a:xfrm>
            <a:off x="571500" y="3593976"/>
            <a:ext cx="7793831" cy="94655"/>
          </a:xfrm>
          <a:prstGeom prst="rect">
            <a:avLst/>
          </a:prstGeom>
          <a:noFill/>
          <a:ln/>
        </p:spPr>
        <p:txBody>
          <a:bodyPr wrap="none" lIns="0" tIns="0" rIns="0" bIns="0" rtlCol="0" anchor="t">
            <a:spAutoFit/>
          </a:bodyPr>
          <a:lstStyle/>
          <a:p>
            <a:pPr algn="l" indent="0" marL="0">
              <a:lnSpc>
                <a:spcPts val="700"/>
              </a:lnSpc>
              <a:buNone/>
            </a:pPr>
            <a:r>
              <a:rPr lang="en-US" sz="568" spc="2" kern="0" dirty="0">
                <a:solidFill>
                  <a:srgbClr val="999999"/>
                </a:solidFill>
                <a:latin typeface="Lato" pitchFamily="34" charset="0"/>
                <a:ea typeface="Lato" pitchFamily="34" charset="-122"/>
                <a:cs typeface="Lato" pitchFamily="34" charset="-120"/>
              </a:rPr>
              <a:t>جهة التقديم</a:t>
            </a:r>
            <a:endParaRPr lang="en-US" sz="568" dirty="0"/>
          </a:p>
        </p:txBody>
      </p:sp>
      <p:sp>
        <p:nvSpPr>
          <p:cNvPr id="14" name="Text 11"/>
          <p:cNvSpPr/>
          <p:nvPr/>
        </p:nvSpPr>
        <p:spPr>
          <a:xfrm>
            <a:off x="571500" y="3731493"/>
            <a:ext cx="7793831" cy="205718"/>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0A192F"/>
                </a:solidFill>
                <a:latin typeface="Lato" pitchFamily="34" charset="0"/>
                <a:ea typeface="Lato" pitchFamily="34" charset="-122"/>
                <a:cs typeface="Lato" pitchFamily="34" charset="-120"/>
              </a:rPr>
              <a:t>المعهد الوطني الجزائري للملكية الصناعية</a:t>
            </a:r>
            <a:endParaRPr lang="en-US" sz="885" dirty="0"/>
          </a:p>
        </p:txBody>
      </p:sp>
      <p:sp>
        <p:nvSpPr>
          <p:cNvPr id="15" name="Text 12"/>
          <p:cNvSpPr/>
          <p:nvPr/>
        </p:nvSpPr>
        <p:spPr>
          <a:xfrm>
            <a:off x="571500" y="3972930"/>
            <a:ext cx="7793831" cy="132159"/>
          </a:xfrm>
          <a:prstGeom prst="rect">
            <a:avLst/>
          </a:prstGeom>
          <a:noFill/>
          <a:ln/>
        </p:spPr>
        <p:txBody>
          <a:bodyPr wrap="none" lIns="0" tIns="0" rIns="0" bIns="0" rtlCol="0" anchor="t">
            <a:spAutoFit/>
          </a:bodyPr>
          <a:lstStyle/>
          <a:p>
            <a:pPr algn="l" indent="0" marL="0">
              <a:lnSpc>
                <a:spcPts val="1100"/>
              </a:lnSpc>
              <a:buNone/>
            </a:pPr>
            <a:r>
              <a:rPr lang="en-US" sz="834" dirty="0">
                <a:solidFill>
                  <a:srgbClr val="333333"/>
                </a:solidFill>
                <a:latin typeface="Times New Roman" pitchFamily="34" charset="0"/>
                <a:ea typeface="Times New Roman" pitchFamily="34" charset="-122"/>
                <a:cs typeface="Times New Roman" pitchFamily="34" charset="-120"/>
              </a:rPr>
              <a:t>INAPI - Institut National Algérien de la Propriété Industrielle</a:t>
            </a:r>
            <a:endParaRPr lang="en-US" sz="834"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27314" y="870114"/>
            <a:ext cx="689372" cy="103584"/>
          </a:xfrm>
          <a:prstGeom prst="rect">
            <a:avLst/>
          </a:prstGeom>
          <a:noFill/>
          <a:ln/>
        </p:spPr>
        <p:txBody>
          <a:bodyPr wrap="none" lIns="0" tIns="0" rIns="0" bIns="0" rtlCol="0" anchor="t">
            <a:spAutoFit/>
          </a:bodyPr>
          <a:lstStyle/>
          <a:p>
            <a:pPr algn="ctr" indent="0" marL="0">
              <a:lnSpc>
                <a:spcPts val="800"/>
              </a:lnSpc>
              <a:buNone/>
            </a:pPr>
            <a:r>
              <a:rPr lang="en-US" sz="621" spc="2" kern="0" dirty="0">
                <a:solidFill>
                  <a:srgbClr val="999999"/>
                </a:solidFill>
                <a:latin typeface="Lato" pitchFamily="34" charset="0"/>
                <a:ea typeface="Lato" pitchFamily="34" charset="-122"/>
                <a:cs typeface="Lato" pitchFamily="34" charset="-120"/>
              </a:rPr>
              <a:t>عنوان براءة الاختراع</a:t>
            </a:r>
            <a:endParaRPr lang="en-US" sz="621" dirty="0"/>
          </a:p>
        </p:txBody>
      </p:sp>
      <p:sp>
        <p:nvSpPr>
          <p:cNvPr id="4" name="Text 1"/>
          <p:cNvSpPr/>
          <p:nvPr/>
        </p:nvSpPr>
        <p:spPr>
          <a:xfrm>
            <a:off x="1000125" y="1059424"/>
            <a:ext cx="7143750" cy="1440163"/>
          </a:xfrm>
          <a:prstGeom prst="rect">
            <a:avLst/>
          </a:prstGeom>
          <a:noFill/>
          <a:ln/>
        </p:spPr>
        <p:txBody>
          <a:bodyPr wrap="square" lIns="0" tIns="0" rIns="0" bIns="0" rtlCol="0" anchor="t">
            <a:spAutoFit/>
          </a:bodyPr>
          <a:lstStyle/>
          <a:p>
            <a:pPr algn="ctr" indent="0" marL="0">
              <a:lnSpc>
                <a:spcPts val="3800"/>
              </a:lnSpc>
              <a:buNone/>
            </a:pPr>
            <a:r>
              <a:rPr lang="en-US" sz="2436" b="1" dirty="0">
                <a:solidFill>
                  <a:srgbClr val="0A192F"/>
                </a:solidFill>
                <a:latin typeface="Playfair Display" pitchFamily="34" charset="0"/>
                <a:ea typeface="Playfair Display" pitchFamily="34" charset="-122"/>
                <a:cs typeface="Playfair Display" pitchFamily="34" charset="-120"/>
              </a:rPr>
              <a:t>Patent Oracle: نظام ذكاء اصطناعي لتوليد والتحقق من مفاهيم براءات الاختراع متعددة التخصصات</a:t>
            </a:r>
            <a:endParaRPr lang="en-US" sz="2436" dirty="0"/>
          </a:p>
        </p:txBody>
      </p:sp>
      <p:sp>
        <p:nvSpPr>
          <p:cNvPr id="5" name="Text 2"/>
          <p:cNvSpPr/>
          <p:nvPr/>
        </p:nvSpPr>
        <p:spPr>
          <a:xfrm>
            <a:off x="1357313" y="2692468"/>
            <a:ext cx="6429375" cy="121444"/>
          </a:xfrm>
          <a:prstGeom prst="rect">
            <a:avLst/>
          </a:prstGeom>
          <a:noFill/>
          <a:ln/>
        </p:spPr>
        <p:txBody>
          <a:bodyPr wrap="none" lIns="0" tIns="0" rIns="0" bIns="0" rtlCol="0" anchor="t">
            <a:spAutoFit/>
          </a:bodyPr>
          <a:lstStyle/>
          <a:p>
            <a:pPr algn="ctr" indent="0" marL="0">
              <a:lnSpc>
                <a:spcPts val="900"/>
              </a:lnSpc>
              <a:buNone/>
            </a:pPr>
            <a:r>
              <a:rPr lang="en-US" sz="727" spc="2" kern="0" dirty="0">
                <a:solidFill>
                  <a:srgbClr val="999999"/>
                </a:solidFill>
                <a:latin typeface="Lato" pitchFamily="34" charset="0"/>
                <a:ea typeface="Lato" pitchFamily="34" charset="-122"/>
                <a:cs typeface="Lato" pitchFamily="34" charset="-120"/>
              </a:rPr>
              <a:t>الابتكار الأساسي</a:t>
            </a:r>
            <a:endParaRPr lang="en-US" sz="727" dirty="0"/>
          </a:p>
        </p:txBody>
      </p:sp>
      <p:sp>
        <p:nvSpPr>
          <p:cNvPr id="6" name="Text 3"/>
          <p:cNvSpPr/>
          <p:nvPr/>
        </p:nvSpPr>
        <p:spPr>
          <a:xfrm>
            <a:off x="1357313" y="2871062"/>
            <a:ext cx="6429375" cy="266105"/>
          </a:xfrm>
          <a:prstGeom prst="rect">
            <a:avLst/>
          </a:prstGeom>
          <a:noFill/>
          <a:ln/>
        </p:spPr>
        <p:txBody>
          <a:bodyPr wrap="none" lIns="0" tIns="0" rIns="0" bIns="0" rtlCol="0" anchor="t">
            <a:spAutoFit/>
          </a:bodyPr>
          <a:lstStyle/>
          <a:p>
            <a:pPr algn="ctr" indent="0" marL="0">
              <a:lnSpc>
                <a:spcPts val="1900"/>
              </a:lnSpc>
              <a:buNone/>
            </a:pPr>
            <a:r>
              <a:rPr lang="en-US" sz="1397" b="1" dirty="0">
                <a:solidFill>
                  <a:srgbClr val="D4AF37"/>
                </a:solidFill>
                <a:latin typeface="Playfair Display" pitchFamily="34" charset="0"/>
                <a:ea typeface="Playfair Display" pitchFamily="34" charset="-122"/>
                <a:cs typeface="Playfair Display" pitchFamily="34" charset="-120"/>
              </a:rPr>
              <a:t>دمج الذكاء الاصطناعي مع قواعد البيانات الدولية</a:t>
            </a:r>
            <a:endParaRPr lang="en-US" sz="1397" dirty="0"/>
          </a:p>
        </p:txBody>
      </p:sp>
      <p:sp>
        <p:nvSpPr>
          <p:cNvPr id="7" name="Text 4"/>
          <p:cNvSpPr/>
          <p:nvPr/>
        </p:nvSpPr>
        <p:spPr>
          <a:xfrm>
            <a:off x="1357313" y="3194317"/>
            <a:ext cx="6429375" cy="462893"/>
          </a:xfrm>
          <a:prstGeom prst="rect">
            <a:avLst/>
          </a:prstGeom>
          <a:noFill/>
          <a:ln/>
        </p:spPr>
        <p:txBody>
          <a:bodyPr wrap="square" lIns="0" tIns="0" rIns="0" bIns="0" rtlCol="0" anchor="t">
            <a:spAutoFit/>
          </a:bodyPr>
          <a:lstStyle/>
          <a:p>
            <a:pPr algn="ctr" indent="0" marL="0">
              <a:lnSpc>
                <a:spcPts val="1800"/>
              </a:lnSpc>
              <a:buNone/>
            </a:pPr>
            <a:r>
              <a:rPr lang="en-US" sz="942" dirty="0">
                <a:solidFill>
                  <a:srgbClr val="333333"/>
                </a:solidFill>
                <a:latin typeface="Lato" pitchFamily="34" charset="0"/>
                <a:ea typeface="Lato" pitchFamily="34" charset="-122"/>
                <a:cs typeface="Lato" pitchFamily="34" charset="-120"/>
              </a:rPr>
              <a:t>يتمثل الابتكار الأساسي في دمج نموذج الذكاء الاصطناعي المتقدم (llama3) مع قواعد بيانات براءات الاختراع الدولية (EPO) لتوليد أفكار براءات اختراع جديدة والتحقق من جدتها بشكل فوري وآلي، مما يسرع عملية الابتكار بشكل كبير.</a:t>
            </a:r>
            <a:endParaRPr lang="en-US" sz="942" dirty="0"/>
          </a:p>
        </p:txBody>
      </p:sp>
      <p:sp>
        <p:nvSpPr>
          <p:cNvPr id="8" name="Shape 5"/>
          <p:cNvSpPr/>
          <p:nvPr/>
        </p:nvSpPr>
        <p:spPr>
          <a:xfrm>
            <a:off x="1769864" y="3742934"/>
            <a:ext cx="5604272" cy="530423"/>
          </a:xfrm>
          <a:prstGeom prst="rect">
            <a:avLst/>
          </a:prstGeom>
          <a:solidFill>
            <a:srgbClr val="F8F9FA"/>
          </a:solidFill>
          <a:ln/>
        </p:spPr>
      </p:sp>
      <p:sp>
        <p:nvSpPr>
          <p:cNvPr id="9" name="Shape 6"/>
          <p:cNvSpPr/>
          <p:nvPr/>
        </p:nvSpPr>
        <p:spPr>
          <a:xfrm>
            <a:off x="1769864" y="3742934"/>
            <a:ext cx="5604272" cy="21431"/>
          </a:xfrm>
          <a:prstGeom prst="rect">
            <a:avLst/>
          </a:prstGeom>
          <a:solidFill>
            <a:srgbClr val="D4AF37"/>
          </a:solidFill>
          <a:ln/>
        </p:spPr>
      </p:sp>
      <p:sp>
        <p:nvSpPr>
          <p:cNvPr id="10" name="Shape 7"/>
          <p:cNvSpPr/>
          <p:nvPr/>
        </p:nvSpPr>
        <p:spPr>
          <a:xfrm>
            <a:off x="1769864" y="4251927"/>
            <a:ext cx="5604272" cy="21431"/>
          </a:xfrm>
          <a:prstGeom prst="rect">
            <a:avLst/>
          </a:prstGeom>
          <a:solidFill>
            <a:srgbClr val="D4AF37"/>
          </a:solidFill>
          <a:ln/>
        </p:spPr>
      </p:sp>
      <p:sp>
        <p:nvSpPr>
          <p:cNvPr id="11" name="Text 8"/>
          <p:cNvSpPr/>
          <p:nvPr/>
        </p:nvSpPr>
        <p:spPr>
          <a:xfrm>
            <a:off x="1769864" y="3850091"/>
            <a:ext cx="5604272" cy="121444"/>
          </a:xfrm>
          <a:prstGeom prst="rect">
            <a:avLst/>
          </a:prstGeom>
          <a:noFill/>
          <a:ln/>
        </p:spPr>
        <p:txBody>
          <a:bodyPr wrap="none" lIns="0" tIns="0" rIns="0" bIns="0" rtlCol="0" anchor="t">
            <a:spAutoFit/>
          </a:bodyPr>
          <a:lstStyle/>
          <a:p>
            <a:pPr algn="ctr" indent="0" marL="0">
              <a:lnSpc>
                <a:spcPts val="900"/>
              </a:lnSpc>
              <a:buNone/>
            </a:pPr>
            <a:r>
              <a:rPr lang="en-US" sz="727" spc="2" kern="0" dirty="0">
                <a:solidFill>
                  <a:srgbClr val="999999"/>
                </a:solidFill>
                <a:latin typeface="Lato" pitchFamily="34" charset="0"/>
                <a:ea typeface="Lato" pitchFamily="34" charset="-122"/>
                <a:cs typeface="Lato" pitchFamily="34" charset="-120"/>
              </a:rPr>
              <a:t>الاسم الإنجليزي</a:t>
            </a:r>
            <a:endParaRPr lang="en-US" sz="727" dirty="0"/>
          </a:p>
        </p:txBody>
      </p:sp>
      <p:sp>
        <p:nvSpPr>
          <p:cNvPr id="12" name="Text 9"/>
          <p:cNvSpPr/>
          <p:nvPr/>
        </p:nvSpPr>
        <p:spPr>
          <a:xfrm>
            <a:off x="1769864" y="4028684"/>
            <a:ext cx="5604272" cy="137517"/>
          </a:xfrm>
          <a:prstGeom prst="rect">
            <a:avLst/>
          </a:prstGeom>
          <a:noFill/>
          <a:ln/>
        </p:spPr>
        <p:txBody>
          <a:bodyPr wrap="none" lIns="0" tIns="0" rIns="0" bIns="0" rtlCol="0" anchor="t">
            <a:spAutoFit/>
          </a:bodyPr>
          <a:lstStyle/>
          <a:p>
            <a:pPr algn="ctr" indent="0" marL="0">
              <a:lnSpc>
                <a:spcPts val="1100"/>
              </a:lnSpc>
              <a:buNone/>
            </a:pPr>
            <a:r>
              <a:rPr lang="en-US" sz="784" b="1" i="1" dirty="0">
                <a:solidFill>
                  <a:srgbClr val="666666"/>
                </a:solidFill>
                <a:latin typeface="Lato" pitchFamily="34" charset="0"/>
                <a:ea typeface="Lato" pitchFamily="34" charset="-122"/>
                <a:cs typeface="Lato" pitchFamily="34" charset="-120"/>
              </a:rPr>
              <a:t>"Patent Oracle: Artificial Intelligence System for Generation and Validation of Transdisciplinary Patent Concepts"</a:t>
            </a:r>
            <a:endParaRPr lang="en-US" sz="784"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8001000" cy="532209"/>
          </a:xfrm>
          <a:prstGeom prst="rect">
            <a:avLst/>
          </a:prstGeom>
          <a:noFill/>
          <a:ln/>
        </p:spPr>
        <p:txBody>
          <a:bodyPr wrap="none" lIns="0" tIns="0" rIns="0" bIns="0" rtlCol="0" anchor="t">
            <a:spAutoFit/>
          </a:bodyPr>
          <a:lstStyle/>
          <a:p>
            <a:pPr algn="ctr" indent="0" marL="0">
              <a:lnSpc>
                <a:spcPts val="3800"/>
              </a:lnSpc>
              <a:buNone/>
            </a:pPr>
            <a:r>
              <a:rPr lang="en-US" sz="2862" b="1" dirty="0">
                <a:solidFill>
                  <a:srgbClr val="0A192F"/>
                </a:solidFill>
                <a:latin typeface="Playfair Display" pitchFamily="34" charset="0"/>
                <a:ea typeface="Playfair Display" pitchFamily="34" charset="-122"/>
                <a:cs typeface="Playfair Display" pitchFamily="34" charset="-120"/>
              </a:rPr>
              <a:t>الفوائد والأثر</a:t>
            </a:r>
            <a:endParaRPr lang="en-US" sz="2862" dirty="0"/>
          </a:p>
        </p:txBody>
      </p:sp>
      <p:sp>
        <p:nvSpPr>
          <p:cNvPr id="4" name="Shape 1"/>
          <p:cNvSpPr/>
          <p:nvPr/>
        </p:nvSpPr>
        <p:spPr>
          <a:xfrm>
            <a:off x="8215313" y="1339453"/>
            <a:ext cx="357188" cy="357188"/>
          </a:xfrm>
          <a:prstGeom prst="rect">
            <a:avLst/>
          </a:prstGeom>
          <a:solidFill>
            <a:srgbClr val="D4AF37"/>
          </a:solidFill>
          <a:ln/>
        </p:spPr>
      </p:sp>
      <p:sp>
        <p:nvSpPr>
          <p:cNvPr id="5" name="Text 2"/>
          <p:cNvSpPr/>
          <p:nvPr/>
        </p:nvSpPr>
        <p:spPr>
          <a:xfrm>
            <a:off x="8215313" y="1339453"/>
            <a:ext cx="357188" cy="357188"/>
          </a:xfrm>
          <a:prstGeom prst="rect">
            <a:avLst/>
          </a:prstGeom>
          <a:noFill/>
          <a:ln/>
        </p:spPr>
        <p:txBody>
          <a:bodyPr wrap="square" lIns="0" tIns="0" rIns="0" bIns="0" rtlCol="0" anchor="ctr">
            <a:spAutoFit/>
          </a:bodyPr>
          <a:lstStyle/>
          <a:p>
            <a:pPr algn="ctr" indent="0" marL="0">
              <a:lnSpc>
                <a:spcPts val="1600"/>
              </a:lnSpc>
              <a:buNone/>
            </a:pPr>
            <a:r>
              <a:rPr lang="en-US" sz="1193" b="1" dirty="0">
                <a:solidFill>
                  <a:srgbClr val="0A192F"/>
                </a:solidFill>
                <a:latin typeface="Playfair Display" pitchFamily="34" charset="0"/>
                <a:ea typeface="Playfair Display" pitchFamily="34" charset="-122"/>
                <a:cs typeface="Playfair Display" pitchFamily="34" charset="-120"/>
              </a:rPr>
              <a:t>⚡</a:t>
            </a:r>
            <a:endParaRPr lang="en-US" sz="1193" dirty="0"/>
          </a:p>
        </p:txBody>
      </p:sp>
      <p:sp>
        <p:nvSpPr>
          <p:cNvPr id="6" name="Text 3"/>
          <p:cNvSpPr/>
          <p:nvPr/>
        </p:nvSpPr>
        <p:spPr>
          <a:xfrm>
            <a:off x="7281267" y="1339453"/>
            <a:ext cx="876895" cy="204295"/>
          </a:xfrm>
          <a:prstGeom prst="rect">
            <a:avLst/>
          </a:prstGeom>
          <a:noFill/>
          <a:ln/>
        </p:spPr>
        <p:txBody>
          <a:bodyPr wrap="none" lIns="0" tIns="0" rIns="0" bIns="0" rtlCol="0" anchor="t">
            <a:spAutoFit/>
          </a:bodyPr>
          <a:lstStyle/>
          <a:p>
            <a:pPr algn="l" indent="0" marL="0">
              <a:lnSpc>
                <a:spcPts val="1600"/>
              </a:lnSpc>
              <a:buNone/>
            </a:pPr>
            <a:r>
              <a:rPr lang="en-US" sz="1090" b="1" dirty="0">
                <a:solidFill>
                  <a:srgbClr val="0A192F"/>
                </a:solidFill>
                <a:latin typeface="Playfair Display" pitchFamily="34" charset="0"/>
                <a:ea typeface="Playfair Display" pitchFamily="34" charset="-122"/>
                <a:cs typeface="Playfair Display" pitchFamily="34" charset="-120"/>
              </a:rPr>
              <a:t>تسريع الابتكار</a:t>
            </a:r>
            <a:endParaRPr lang="en-US" sz="1090" dirty="0"/>
          </a:p>
        </p:txBody>
      </p:sp>
      <p:sp>
        <p:nvSpPr>
          <p:cNvPr id="7" name="Text 4"/>
          <p:cNvSpPr/>
          <p:nvPr/>
        </p:nvSpPr>
        <p:spPr>
          <a:xfrm>
            <a:off x="4643438" y="1753791"/>
            <a:ext cx="3929063" cy="182863"/>
          </a:xfrm>
          <a:prstGeom prst="rect">
            <a:avLst/>
          </a:prstGeom>
          <a:noFill/>
          <a:ln/>
        </p:spPr>
        <p:txBody>
          <a:bodyPr wrap="none" lIns="0" tIns="0" rIns="85090" bIns="0" rtlCol="0" anchor="t">
            <a:spAutoFit/>
          </a:bodyPr>
          <a:lstStyle/>
          <a:p>
            <a:pPr algn="l" indent="0" marL="0">
              <a:lnSpc>
                <a:spcPts val="1400"/>
              </a:lnSpc>
              <a:buNone/>
            </a:pPr>
            <a:r>
              <a:rPr lang="en-US" sz="834" dirty="0">
                <a:solidFill>
                  <a:srgbClr val="333333"/>
                </a:solidFill>
                <a:latin typeface="Lato" pitchFamily="34" charset="0"/>
                <a:ea typeface="Lato" pitchFamily="34" charset="-122"/>
                <a:cs typeface="Lato" pitchFamily="34" charset="-120"/>
              </a:rPr>
              <a:t>توليد أفكار براءات اختراع في دقائق بدلاً من أشهر من البحث والتطوير</a:t>
            </a:r>
            <a:endParaRPr lang="en-US" sz="834" dirty="0"/>
          </a:p>
        </p:txBody>
      </p:sp>
      <p:sp>
        <p:nvSpPr>
          <p:cNvPr id="8" name="Shape 5"/>
          <p:cNvSpPr/>
          <p:nvPr/>
        </p:nvSpPr>
        <p:spPr>
          <a:xfrm>
            <a:off x="4143375" y="1339453"/>
            <a:ext cx="357188" cy="357188"/>
          </a:xfrm>
          <a:prstGeom prst="rect">
            <a:avLst/>
          </a:prstGeom>
          <a:solidFill>
            <a:srgbClr val="D4AF37"/>
          </a:solidFill>
          <a:ln/>
        </p:spPr>
      </p:sp>
      <p:sp>
        <p:nvSpPr>
          <p:cNvPr id="9" name="Text 6"/>
          <p:cNvSpPr/>
          <p:nvPr/>
        </p:nvSpPr>
        <p:spPr>
          <a:xfrm>
            <a:off x="4143375" y="1339453"/>
            <a:ext cx="357188" cy="357188"/>
          </a:xfrm>
          <a:prstGeom prst="rect">
            <a:avLst/>
          </a:prstGeom>
          <a:noFill/>
          <a:ln/>
        </p:spPr>
        <p:txBody>
          <a:bodyPr wrap="square" lIns="0" tIns="0" rIns="0" bIns="0" rtlCol="0" anchor="ctr">
            <a:spAutoFit/>
          </a:bodyPr>
          <a:lstStyle/>
          <a:p>
            <a:pPr algn="ctr" indent="0" marL="0">
              <a:lnSpc>
                <a:spcPts val="1600"/>
              </a:lnSpc>
              <a:buNone/>
            </a:pPr>
            <a:r>
              <a:rPr lang="en-US" sz="1193" b="1" dirty="0">
                <a:solidFill>
                  <a:srgbClr val="0A192F"/>
                </a:solidFill>
                <a:latin typeface="Playfair Display" pitchFamily="34" charset="0"/>
                <a:ea typeface="Playfair Display" pitchFamily="34" charset="-122"/>
                <a:cs typeface="Playfair Display" pitchFamily="34" charset="-120"/>
              </a:rPr>
              <a:t>✓</a:t>
            </a:r>
            <a:endParaRPr lang="en-US" sz="1193" dirty="0"/>
          </a:p>
        </p:txBody>
      </p:sp>
      <p:sp>
        <p:nvSpPr>
          <p:cNvPr id="10" name="Text 7"/>
          <p:cNvSpPr/>
          <p:nvPr/>
        </p:nvSpPr>
        <p:spPr>
          <a:xfrm>
            <a:off x="3168253" y="1339453"/>
            <a:ext cx="917972" cy="204295"/>
          </a:xfrm>
          <a:prstGeom prst="rect">
            <a:avLst/>
          </a:prstGeom>
          <a:noFill/>
          <a:ln/>
        </p:spPr>
        <p:txBody>
          <a:bodyPr wrap="none" lIns="0" tIns="0" rIns="0" bIns="0" rtlCol="0" anchor="t">
            <a:spAutoFit/>
          </a:bodyPr>
          <a:lstStyle/>
          <a:p>
            <a:pPr algn="l" indent="0" marL="0">
              <a:lnSpc>
                <a:spcPts val="1600"/>
              </a:lnSpc>
              <a:buNone/>
            </a:pPr>
            <a:r>
              <a:rPr lang="en-US" sz="1090" b="1" dirty="0">
                <a:solidFill>
                  <a:srgbClr val="0A192F"/>
                </a:solidFill>
                <a:latin typeface="Playfair Display" pitchFamily="34" charset="0"/>
                <a:ea typeface="Playfair Display" pitchFamily="34" charset="-122"/>
                <a:cs typeface="Playfair Display" pitchFamily="34" charset="-120"/>
              </a:rPr>
              <a:t>تحسين الجودة</a:t>
            </a:r>
            <a:endParaRPr lang="en-US" sz="1090" dirty="0"/>
          </a:p>
        </p:txBody>
      </p:sp>
      <p:sp>
        <p:nvSpPr>
          <p:cNvPr id="11" name="Text 8"/>
          <p:cNvSpPr/>
          <p:nvPr/>
        </p:nvSpPr>
        <p:spPr>
          <a:xfrm>
            <a:off x="571500" y="1753791"/>
            <a:ext cx="3929063" cy="182863"/>
          </a:xfrm>
          <a:prstGeom prst="rect">
            <a:avLst/>
          </a:prstGeom>
          <a:noFill/>
          <a:ln/>
        </p:spPr>
        <p:txBody>
          <a:bodyPr wrap="none" lIns="0" tIns="0" rIns="85090" bIns="0" rtlCol="0" anchor="t">
            <a:spAutoFit/>
          </a:bodyPr>
          <a:lstStyle/>
          <a:p>
            <a:pPr algn="l" indent="0" marL="0">
              <a:lnSpc>
                <a:spcPts val="1400"/>
              </a:lnSpc>
              <a:buNone/>
            </a:pPr>
            <a:r>
              <a:rPr lang="en-US" sz="834" dirty="0">
                <a:solidFill>
                  <a:srgbClr val="333333"/>
                </a:solidFill>
                <a:latin typeface="Lato" pitchFamily="34" charset="0"/>
                <a:ea typeface="Lato" pitchFamily="34" charset="-122"/>
                <a:cs typeface="Lato" pitchFamily="34" charset="-120"/>
              </a:rPr>
              <a:t>ضمان جدة الأفكار من خلال التحقق الفوري من قاعدة بيانات EPO</a:t>
            </a:r>
            <a:endParaRPr lang="en-US" sz="834" dirty="0"/>
          </a:p>
        </p:txBody>
      </p:sp>
      <p:sp>
        <p:nvSpPr>
          <p:cNvPr id="12" name="Shape 9"/>
          <p:cNvSpPr/>
          <p:nvPr/>
        </p:nvSpPr>
        <p:spPr>
          <a:xfrm>
            <a:off x="8215313" y="2079529"/>
            <a:ext cx="357188" cy="357188"/>
          </a:xfrm>
          <a:prstGeom prst="rect">
            <a:avLst/>
          </a:prstGeom>
          <a:solidFill>
            <a:srgbClr val="D4AF37"/>
          </a:solidFill>
          <a:ln/>
        </p:spPr>
      </p:sp>
      <p:sp>
        <p:nvSpPr>
          <p:cNvPr id="13" name="Text 10"/>
          <p:cNvSpPr/>
          <p:nvPr/>
        </p:nvSpPr>
        <p:spPr>
          <a:xfrm>
            <a:off x="8215313" y="2079529"/>
            <a:ext cx="357188" cy="357188"/>
          </a:xfrm>
          <a:prstGeom prst="rect">
            <a:avLst/>
          </a:prstGeom>
          <a:noFill/>
          <a:ln/>
        </p:spPr>
        <p:txBody>
          <a:bodyPr wrap="square" lIns="0" tIns="0" rIns="0" bIns="0" rtlCol="0" anchor="ctr">
            <a:spAutoFit/>
          </a:bodyPr>
          <a:lstStyle/>
          <a:p>
            <a:pPr algn="ctr" indent="0" marL="0">
              <a:lnSpc>
                <a:spcPts val="1600"/>
              </a:lnSpc>
              <a:buNone/>
            </a:pPr>
            <a:r>
              <a:rPr lang="en-US" sz="1193" b="1" dirty="0">
                <a:solidFill>
                  <a:srgbClr val="0A192F"/>
                </a:solidFill>
                <a:latin typeface="Playfair Display" pitchFamily="34" charset="0"/>
                <a:ea typeface="Playfair Display" pitchFamily="34" charset="-122"/>
                <a:cs typeface="Playfair Display" pitchFamily="34" charset="-120"/>
              </a:rPr>
              <a:t>🔭</a:t>
            </a:r>
            <a:endParaRPr lang="en-US" sz="1193" dirty="0"/>
          </a:p>
        </p:txBody>
      </p:sp>
      <p:sp>
        <p:nvSpPr>
          <p:cNvPr id="14" name="Text 11"/>
          <p:cNvSpPr/>
          <p:nvPr/>
        </p:nvSpPr>
        <p:spPr>
          <a:xfrm>
            <a:off x="7354491" y="2079529"/>
            <a:ext cx="803672" cy="204295"/>
          </a:xfrm>
          <a:prstGeom prst="rect">
            <a:avLst/>
          </a:prstGeom>
          <a:noFill/>
          <a:ln/>
        </p:spPr>
        <p:txBody>
          <a:bodyPr wrap="none" lIns="0" tIns="0" rIns="0" bIns="0" rtlCol="0" anchor="t">
            <a:spAutoFit/>
          </a:bodyPr>
          <a:lstStyle/>
          <a:p>
            <a:pPr algn="l" indent="0" marL="0">
              <a:lnSpc>
                <a:spcPts val="1600"/>
              </a:lnSpc>
              <a:buNone/>
            </a:pPr>
            <a:r>
              <a:rPr lang="en-US" sz="1090" b="1" dirty="0">
                <a:solidFill>
                  <a:srgbClr val="0A192F"/>
                </a:solidFill>
                <a:latin typeface="Playfair Display" pitchFamily="34" charset="0"/>
                <a:ea typeface="Playfair Display" pitchFamily="34" charset="-122"/>
                <a:cs typeface="Playfair Display" pitchFamily="34" charset="-120"/>
              </a:rPr>
              <a:t>توسيع الآفاق</a:t>
            </a:r>
            <a:endParaRPr lang="en-US" sz="1090" dirty="0"/>
          </a:p>
        </p:txBody>
      </p:sp>
      <p:sp>
        <p:nvSpPr>
          <p:cNvPr id="15" name="Text 12"/>
          <p:cNvSpPr/>
          <p:nvPr/>
        </p:nvSpPr>
        <p:spPr>
          <a:xfrm>
            <a:off x="4643438" y="2493866"/>
            <a:ext cx="3929063" cy="182863"/>
          </a:xfrm>
          <a:prstGeom prst="rect">
            <a:avLst/>
          </a:prstGeom>
          <a:noFill/>
          <a:ln/>
        </p:spPr>
        <p:txBody>
          <a:bodyPr wrap="none" lIns="0" tIns="0" rIns="85090" bIns="0" rtlCol="0" anchor="t">
            <a:spAutoFit/>
          </a:bodyPr>
          <a:lstStyle/>
          <a:p>
            <a:pPr algn="l" indent="0" marL="0">
              <a:lnSpc>
                <a:spcPts val="1400"/>
              </a:lnSpc>
              <a:buNone/>
            </a:pPr>
            <a:r>
              <a:rPr lang="en-US" sz="834" dirty="0">
                <a:solidFill>
                  <a:srgbClr val="333333"/>
                </a:solidFill>
                <a:latin typeface="Lato" pitchFamily="34" charset="0"/>
                <a:ea typeface="Lato" pitchFamily="34" charset="-122"/>
                <a:cs typeface="Lato" pitchFamily="34" charset="-120"/>
              </a:rPr>
              <a:t>اكتشاف فرص ابتكار جديدة في مجالات متعددة وتخصصات مختلفة</a:t>
            </a:r>
            <a:endParaRPr lang="en-US" sz="834" dirty="0"/>
          </a:p>
        </p:txBody>
      </p:sp>
      <p:sp>
        <p:nvSpPr>
          <p:cNvPr id="16" name="Shape 13"/>
          <p:cNvSpPr/>
          <p:nvPr/>
        </p:nvSpPr>
        <p:spPr>
          <a:xfrm>
            <a:off x="4143375" y="2079529"/>
            <a:ext cx="357188" cy="357188"/>
          </a:xfrm>
          <a:prstGeom prst="rect">
            <a:avLst/>
          </a:prstGeom>
          <a:solidFill>
            <a:srgbClr val="D4AF37"/>
          </a:solidFill>
          <a:ln/>
        </p:spPr>
      </p:sp>
      <p:sp>
        <p:nvSpPr>
          <p:cNvPr id="17" name="Text 14"/>
          <p:cNvSpPr/>
          <p:nvPr/>
        </p:nvSpPr>
        <p:spPr>
          <a:xfrm>
            <a:off x="4143375" y="2079529"/>
            <a:ext cx="357188" cy="357188"/>
          </a:xfrm>
          <a:prstGeom prst="rect">
            <a:avLst/>
          </a:prstGeom>
          <a:noFill/>
          <a:ln/>
        </p:spPr>
        <p:txBody>
          <a:bodyPr wrap="square" lIns="0" tIns="0" rIns="0" bIns="0" rtlCol="0" anchor="ctr">
            <a:spAutoFit/>
          </a:bodyPr>
          <a:lstStyle/>
          <a:p>
            <a:pPr algn="ctr" indent="0" marL="0">
              <a:lnSpc>
                <a:spcPts val="1600"/>
              </a:lnSpc>
              <a:buNone/>
            </a:pPr>
            <a:r>
              <a:rPr lang="en-US" sz="1193" b="1" dirty="0">
                <a:solidFill>
                  <a:srgbClr val="0A192F"/>
                </a:solidFill>
                <a:latin typeface="Playfair Display" pitchFamily="34" charset="0"/>
                <a:ea typeface="Playfair Display" pitchFamily="34" charset="-122"/>
                <a:cs typeface="Playfair Display" pitchFamily="34" charset="-120"/>
              </a:rPr>
              <a:t>💰</a:t>
            </a:r>
            <a:endParaRPr lang="en-US" sz="1193" dirty="0"/>
          </a:p>
        </p:txBody>
      </p:sp>
      <p:sp>
        <p:nvSpPr>
          <p:cNvPr id="18" name="Text 15"/>
          <p:cNvSpPr/>
          <p:nvPr/>
        </p:nvSpPr>
        <p:spPr>
          <a:xfrm>
            <a:off x="3170039" y="2079529"/>
            <a:ext cx="916186" cy="204295"/>
          </a:xfrm>
          <a:prstGeom prst="rect">
            <a:avLst/>
          </a:prstGeom>
          <a:noFill/>
          <a:ln/>
        </p:spPr>
        <p:txBody>
          <a:bodyPr wrap="none" lIns="0" tIns="0" rIns="0" bIns="0" rtlCol="0" anchor="t">
            <a:spAutoFit/>
          </a:bodyPr>
          <a:lstStyle/>
          <a:p>
            <a:pPr algn="l" indent="0" marL="0">
              <a:lnSpc>
                <a:spcPts val="1600"/>
              </a:lnSpc>
              <a:buNone/>
            </a:pPr>
            <a:r>
              <a:rPr lang="en-US" sz="1090" b="1" dirty="0">
                <a:solidFill>
                  <a:srgbClr val="0A192F"/>
                </a:solidFill>
                <a:latin typeface="Playfair Display" pitchFamily="34" charset="0"/>
                <a:ea typeface="Playfair Display" pitchFamily="34" charset="-122"/>
                <a:cs typeface="Playfair Display" pitchFamily="34" charset="-120"/>
              </a:rPr>
              <a:t>تقليل التكاليف</a:t>
            </a:r>
            <a:endParaRPr lang="en-US" sz="1090" dirty="0"/>
          </a:p>
        </p:txBody>
      </p:sp>
      <p:sp>
        <p:nvSpPr>
          <p:cNvPr id="19" name="Text 16"/>
          <p:cNvSpPr/>
          <p:nvPr/>
        </p:nvSpPr>
        <p:spPr>
          <a:xfrm>
            <a:off x="571500" y="2493866"/>
            <a:ext cx="3929063" cy="182863"/>
          </a:xfrm>
          <a:prstGeom prst="rect">
            <a:avLst/>
          </a:prstGeom>
          <a:noFill/>
          <a:ln/>
        </p:spPr>
        <p:txBody>
          <a:bodyPr wrap="none" lIns="0" tIns="0" rIns="85090" bIns="0" rtlCol="0" anchor="t">
            <a:spAutoFit/>
          </a:bodyPr>
          <a:lstStyle/>
          <a:p>
            <a:pPr algn="l" indent="0" marL="0">
              <a:lnSpc>
                <a:spcPts val="1400"/>
              </a:lnSpc>
              <a:buNone/>
            </a:pPr>
            <a:r>
              <a:rPr lang="en-US" sz="834" dirty="0">
                <a:solidFill>
                  <a:srgbClr val="333333"/>
                </a:solidFill>
                <a:latin typeface="Lato" pitchFamily="34" charset="0"/>
                <a:ea typeface="Lato" pitchFamily="34" charset="-122"/>
                <a:cs typeface="Lato" pitchFamily="34" charset="-120"/>
              </a:rPr>
              <a:t>تقليل تكاليف البحث والتطوير من خلال أتمتة عملية توليد الأفكار</a:t>
            </a:r>
            <a:endParaRPr lang="en-US" sz="834" dirty="0"/>
          </a:p>
        </p:txBody>
      </p:sp>
      <p:sp>
        <p:nvSpPr>
          <p:cNvPr id="20" name="Shape 17"/>
          <p:cNvSpPr/>
          <p:nvPr/>
        </p:nvSpPr>
        <p:spPr>
          <a:xfrm>
            <a:off x="0" y="2748167"/>
            <a:ext cx="9144000" cy="900447"/>
          </a:xfrm>
          <a:prstGeom prst="rect">
            <a:avLst/>
          </a:prstGeom>
          <a:solidFill>
            <a:srgbClr val="000000">
              <a:alpha val="0"/>
            </a:srgbClr>
          </a:solidFill>
          <a:ln/>
        </p:spPr>
      </p:sp>
      <p:sp>
        <p:nvSpPr>
          <p:cNvPr id="21" name="Shape 18"/>
          <p:cNvSpPr/>
          <p:nvPr/>
        </p:nvSpPr>
        <p:spPr>
          <a:xfrm>
            <a:off x="0" y="2748167"/>
            <a:ext cx="9144000" cy="14288"/>
          </a:xfrm>
          <a:prstGeom prst="rect">
            <a:avLst/>
          </a:prstGeom>
          <a:solidFill>
            <a:srgbClr val="D4AF37"/>
          </a:solidFill>
          <a:ln/>
        </p:spPr>
      </p:sp>
      <p:sp>
        <p:nvSpPr>
          <p:cNvPr id="22" name="Text 19"/>
          <p:cNvSpPr/>
          <p:nvPr/>
        </p:nvSpPr>
        <p:spPr>
          <a:xfrm>
            <a:off x="571500" y="2819605"/>
            <a:ext cx="8001000" cy="266105"/>
          </a:xfrm>
          <a:prstGeom prst="rect">
            <a:avLst/>
          </a:prstGeom>
          <a:noFill/>
          <a:ln/>
        </p:spPr>
        <p:txBody>
          <a:bodyPr wrap="none" lIns="0" tIns="0" rIns="0" bIns="0" rtlCol="0" anchor="t">
            <a:spAutoFit/>
          </a:bodyPr>
          <a:lstStyle/>
          <a:p>
            <a:pPr algn="ctr" indent="0" marL="0">
              <a:lnSpc>
                <a:spcPts val="1900"/>
              </a:lnSpc>
              <a:buNone/>
            </a:pPr>
            <a:r>
              <a:rPr lang="en-US" sz="1397" b="1" dirty="0">
                <a:solidFill>
                  <a:srgbClr val="0A192F"/>
                </a:solidFill>
                <a:latin typeface="Playfair Display" pitchFamily="34" charset="0"/>
                <a:ea typeface="Playfair Display" pitchFamily="34" charset="-122"/>
                <a:cs typeface="Playfair Display" pitchFamily="34" charset="-120"/>
              </a:rPr>
              <a:t>الأثر البشري</a:t>
            </a:r>
            <a:endParaRPr lang="en-US" sz="1397" dirty="0"/>
          </a:p>
        </p:txBody>
      </p:sp>
      <p:sp>
        <p:nvSpPr>
          <p:cNvPr id="23" name="Text 20"/>
          <p:cNvSpPr/>
          <p:nvPr/>
        </p:nvSpPr>
        <p:spPr>
          <a:xfrm>
            <a:off x="1357313" y="3171434"/>
            <a:ext cx="6429375" cy="462893"/>
          </a:xfrm>
          <a:prstGeom prst="rect">
            <a:avLst/>
          </a:prstGeom>
          <a:noFill/>
          <a:ln/>
        </p:spPr>
        <p:txBody>
          <a:bodyPr wrap="square" lIns="0" tIns="0" rIns="0" bIns="0" rtlCol="0" anchor="t">
            <a:spAutoFit/>
          </a:bodyPr>
          <a:lstStyle/>
          <a:p>
            <a:pPr algn="ctr" indent="0" marL="0">
              <a:lnSpc>
                <a:spcPts val="1800"/>
              </a:lnSpc>
              <a:buNone/>
            </a:pPr>
            <a:r>
              <a:rPr lang="en-US" sz="942" dirty="0">
                <a:solidFill>
                  <a:srgbClr val="333333"/>
                </a:solidFill>
                <a:latin typeface="Lato" pitchFamily="34" charset="0"/>
                <a:ea typeface="Lato" pitchFamily="34" charset="-122"/>
                <a:cs typeface="Lato" pitchFamily="34" charset="-120"/>
              </a:rPr>
              <a:t>Patent Oracle يمثل خطوة نحو ديمقراطية الابتكار، حيث يمكّن الباحثين والمخترعين من الوصول إلى أدوات متقدمة لتطوير براءات اختراع عالية الجودة، مما يسهم في تسريع التقدم التكنولوجي والعلمي على المستوى العالمي.</a:t>
            </a:r>
            <a:endParaRPr lang="en-US" sz="942"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786313" y="768316"/>
            <a:ext cx="3786188" cy="960109"/>
          </a:xfrm>
          <a:prstGeom prst="rect">
            <a:avLst/>
          </a:prstGeom>
          <a:noFill/>
          <a:ln/>
        </p:spPr>
        <p:txBody>
          <a:bodyPr wrap="square" lIns="0" tIns="0" rIns="0" bIns="0" rtlCol="0" anchor="t">
            <a:spAutoFit/>
          </a:bodyPr>
          <a:lstStyle/>
          <a:p>
            <a:pPr algn="l" indent="0" marL="0">
              <a:lnSpc>
                <a:spcPts val="3800"/>
              </a:lnSpc>
              <a:buNone/>
            </a:pPr>
            <a:r>
              <a:rPr lang="en-US" sz="2862" b="1" dirty="0">
                <a:solidFill>
                  <a:srgbClr val="0A192F"/>
                </a:solidFill>
                <a:latin typeface="Playfair Display" pitchFamily="34" charset="0"/>
                <a:ea typeface="Playfair Display" pitchFamily="34" charset="-122"/>
                <a:cs typeface="Playfair Display" pitchFamily="34" charset="-120"/>
              </a:rPr>
              <a:t>الموقع الإلكتروني التفاعلي</a:t>
            </a:r>
            <a:endParaRPr lang="en-US" sz="2862" dirty="0"/>
          </a:p>
        </p:txBody>
      </p:sp>
      <p:sp>
        <p:nvSpPr>
          <p:cNvPr id="4" name="Text 1"/>
          <p:cNvSpPr/>
          <p:nvPr/>
        </p:nvSpPr>
        <p:spPr>
          <a:xfrm>
            <a:off x="7147322" y="2178481"/>
            <a:ext cx="1260872"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A192F"/>
                </a:solidFill>
                <a:latin typeface="Lato" pitchFamily="34" charset="0"/>
                <a:ea typeface="Lato" pitchFamily="34" charset="-122"/>
                <a:cs typeface="Lato" pitchFamily="34" charset="-120"/>
              </a:rPr>
              <a:t>تصميم حديث</a:t>
            </a:r>
            <a:endParaRPr lang="en-US" sz="784" dirty="0"/>
          </a:p>
        </p:txBody>
      </p:sp>
      <p:sp>
        <p:nvSpPr>
          <p:cNvPr id="5" name="Text 2"/>
          <p:cNvSpPr/>
          <p:nvPr/>
        </p:nvSpPr>
        <p:spPr>
          <a:xfrm>
            <a:off x="7147322" y="2353503"/>
            <a:ext cx="1260872"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واجهة مستخدم احترافية وجذابة</a:t>
            </a:r>
            <a:endParaRPr lang="en-US" sz="727" dirty="0"/>
          </a:p>
        </p:txBody>
      </p:sp>
      <p:sp>
        <p:nvSpPr>
          <p:cNvPr id="6" name="Text 3"/>
          <p:cNvSpPr/>
          <p:nvPr/>
        </p:nvSpPr>
        <p:spPr>
          <a:xfrm>
            <a:off x="7250906" y="2646397"/>
            <a:ext cx="1157288"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A192F"/>
                </a:solidFill>
                <a:latin typeface="Lato" pitchFamily="34" charset="0"/>
                <a:ea typeface="Lato" pitchFamily="34" charset="-122"/>
                <a:cs typeface="Lato" pitchFamily="34" charset="-120"/>
              </a:rPr>
              <a:t>دعم متعدد اللغات</a:t>
            </a:r>
            <a:endParaRPr lang="en-US" sz="784" dirty="0"/>
          </a:p>
        </p:txBody>
      </p:sp>
      <p:sp>
        <p:nvSpPr>
          <p:cNvPr id="7" name="Text 4"/>
          <p:cNvSpPr/>
          <p:nvPr/>
        </p:nvSpPr>
        <p:spPr>
          <a:xfrm>
            <a:off x="7250906" y="2821418"/>
            <a:ext cx="1157288"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الإنجليزية والعربية والفرنسية</a:t>
            </a:r>
            <a:endParaRPr lang="en-US" sz="727" dirty="0"/>
          </a:p>
        </p:txBody>
      </p:sp>
      <p:sp>
        <p:nvSpPr>
          <p:cNvPr id="8" name="Text 5"/>
          <p:cNvSpPr/>
          <p:nvPr/>
        </p:nvSpPr>
        <p:spPr>
          <a:xfrm>
            <a:off x="6763345" y="3114312"/>
            <a:ext cx="1644848"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A192F"/>
                </a:solidFill>
                <a:latin typeface="Lato" pitchFamily="34" charset="0"/>
                <a:ea typeface="Lato" pitchFamily="34" charset="-122"/>
                <a:cs typeface="Lato" pitchFamily="34" charset="-120"/>
              </a:rPr>
              <a:t>رسوم بيانية تفاعلية</a:t>
            </a:r>
            <a:endParaRPr lang="en-US" sz="784" dirty="0"/>
          </a:p>
        </p:txBody>
      </p:sp>
      <p:sp>
        <p:nvSpPr>
          <p:cNvPr id="9" name="Text 6"/>
          <p:cNvSpPr/>
          <p:nvPr/>
        </p:nvSpPr>
        <p:spPr>
          <a:xfrm>
            <a:off x="6763345" y="3289334"/>
            <a:ext cx="1644848"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عرض البيانات بطريقة مرئية وسهلة الفهم</a:t>
            </a:r>
            <a:endParaRPr lang="en-US" sz="727" dirty="0"/>
          </a:p>
        </p:txBody>
      </p:sp>
      <p:sp>
        <p:nvSpPr>
          <p:cNvPr id="10" name="Text 7"/>
          <p:cNvSpPr/>
          <p:nvPr/>
        </p:nvSpPr>
        <p:spPr>
          <a:xfrm>
            <a:off x="7200900" y="3582228"/>
            <a:ext cx="1207294"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A192F"/>
                </a:solidFill>
                <a:latin typeface="Lato" pitchFamily="34" charset="0"/>
                <a:ea typeface="Lato" pitchFamily="34" charset="-122"/>
                <a:cs typeface="Lato" pitchFamily="34" charset="-120"/>
              </a:rPr>
              <a:t>معلومات شاملة</a:t>
            </a:r>
            <a:endParaRPr lang="en-US" sz="784" dirty="0"/>
          </a:p>
        </p:txBody>
      </p:sp>
      <p:sp>
        <p:nvSpPr>
          <p:cNvPr id="11" name="Text 8"/>
          <p:cNvSpPr/>
          <p:nvPr/>
        </p:nvSpPr>
        <p:spPr>
          <a:xfrm>
            <a:off x="7200900" y="3757250"/>
            <a:ext cx="1207294"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شرح كامل للمشروع والتطبيق</a:t>
            </a:r>
            <a:endParaRPr lang="en-US" sz="727" dirty="0"/>
          </a:p>
        </p:txBody>
      </p:sp>
      <p:sp>
        <p:nvSpPr>
          <p:cNvPr id="12" name="Text 9"/>
          <p:cNvSpPr/>
          <p:nvPr/>
        </p:nvSpPr>
        <p:spPr>
          <a:xfrm>
            <a:off x="7061597" y="4050143"/>
            <a:ext cx="1346597"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A192F"/>
                </a:solidFill>
                <a:latin typeface="Lato" pitchFamily="34" charset="0"/>
                <a:ea typeface="Lato" pitchFamily="34" charset="-122"/>
                <a:cs typeface="Lato" pitchFamily="34" charset="-120"/>
              </a:rPr>
              <a:t>سهولة المشاركة</a:t>
            </a:r>
            <a:endParaRPr lang="en-US" sz="784" dirty="0"/>
          </a:p>
        </p:txBody>
      </p:sp>
      <p:sp>
        <p:nvSpPr>
          <p:cNvPr id="13" name="Text 10"/>
          <p:cNvSpPr/>
          <p:nvPr/>
        </p:nvSpPr>
        <p:spPr>
          <a:xfrm>
            <a:off x="7061597" y="4225165"/>
            <a:ext cx="1346597"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إمكانية حفظ ومشاركة المعلومات</a:t>
            </a:r>
            <a:endParaRPr lang="en-US" sz="727" dirty="0"/>
          </a:p>
        </p:txBody>
      </p:sp>
      <p:pic>
        <p:nvPicPr>
          <p:cNvPr id="14" name="Image 1" descr="preencoded.png">    </p:cNvPr>
          <p:cNvPicPr>
            <a:picLocks noChangeAspect="1"/>
          </p:cNvPicPr>
          <p:nvPr/>
        </p:nvPicPr>
        <p:blipFill>
          <a:blip r:embed="rId2"/>
          <a:stretch>
            <a:fillRect/>
          </a:stretch>
        </p:blipFill>
        <p:spPr>
          <a:xfrm>
            <a:off x="978694" y="1085850"/>
            <a:ext cx="2971800" cy="29718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8001000" cy="532209"/>
          </a:xfrm>
          <a:prstGeom prst="rect">
            <a:avLst/>
          </a:prstGeom>
          <a:noFill/>
          <a:ln/>
        </p:spPr>
        <p:txBody>
          <a:bodyPr wrap="none" lIns="0" tIns="0" rIns="0" bIns="0" rtlCol="0" anchor="t">
            <a:spAutoFit/>
          </a:bodyPr>
          <a:lstStyle/>
          <a:p>
            <a:pPr algn="ctr" indent="0" marL="0">
              <a:lnSpc>
                <a:spcPts val="3800"/>
              </a:lnSpc>
              <a:buNone/>
            </a:pPr>
            <a:r>
              <a:rPr lang="en-US" sz="2862" b="1" dirty="0">
                <a:solidFill>
                  <a:srgbClr val="0A192F"/>
                </a:solidFill>
                <a:latin typeface="Playfair Display" pitchFamily="34" charset="0"/>
                <a:ea typeface="Playfair Display" pitchFamily="34" charset="-122"/>
                <a:cs typeface="Playfair Display" pitchFamily="34" charset="-120"/>
              </a:rPr>
              <a:t>ماذا بعد؟</a:t>
            </a:r>
            <a:endParaRPr lang="en-US" sz="2862" dirty="0"/>
          </a:p>
        </p:txBody>
      </p:sp>
      <p:sp>
        <p:nvSpPr>
          <p:cNvPr id="4" name="Text 1"/>
          <p:cNvSpPr/>
          <p:nvPr/>
        </p:nvSpPr>
        <p:spPr>
          <a:xfrm>
            <a:off x="4714875" y="1553766"/>
            <a:ext cx="3857625" cy="121444"/>
          </a:xfrm>
          <a:prstGeom prst="rect">
            <a:avLst/>
          </a:prstGeom>
          <a:noFill/>
          <a:ln/>
        </p:spPr>
        <p:txBody>
          <a:bodyPr wrap="none" lIns="0" tIns="0" rIns="0" bIns="0" rtlCol="0" anchor="t">
            <a:spAutoFit/>
          </a:bodyPr>
          <a:lstStyle/>
          <a:p>
            <a:pPr algn="l" indent="0" marL="0">
              <a:lnSpc>
                <a:spcPts val="900"/>
              </a:lnSpc>
              <a:buNone/>
            </a:pPr>
            <a:r>
              <a:rPr lang="en-US" sz="727" spc="2" kern="0" dirty="0">
                <a:solidFill>
                  <a:srgbClr val="999999"/>
                </a:solidFill>
                <a:latin typeface="Lato" pitchFamily="34" charset="0"/>
                <a:ea typeface="Lato" pitchFamily="34" charset="-122"/>
                <a:cs typeface="Lato" pitchFamily="34" charset="-120"/>
              </a:rPr>
              <a:t>الخطوات التالية</a:t>
            </a:r>
            <a:endParaRPr lang="en-US" sz="727" dirty="0"/>
          </a:p>
        </p:txBody>
      </p:sp>
      <p:sp>
        <p:nvSpPr>
          <p:cNvPr id="5" name="Text 2"/>
          <p:cNvSpPr/>
          <p:nvPr/>
        </p:nvSpPr>
        <p:spPr>
          <a:xfrm>
            <a:off x="8286750" y="1818084"/>
            <a:ext cx="285750" cy="266105"/>
          </a:xfrm>
          <a:prstGeom prst="rect">
            <a:avLst/>
          </a:prstGeom>
          <a:noFill/>
          <a:ln/>
        </p:spPr>
        <p:txBody>
          <a:bodyPr wrap="none" lIns="0" tIns="0" rIns="0" bIns="0" rtlCol="0" anchor="t">
            <a:spAutoFit/>
          </a:bodyPr>
          <a:lstStyle/>
          <a:p>
            <a:pPr algn="ctr" indent="0" marL="0">
              <a:lnSpc>
                <a:spcPts val="1900"/>
              </a:lnSpc>
              <a:buNone/>
            </a:pPr>
            <a:r>
              <a:rPr lang="en-US" sz="1397" b="1" dirty="0">
                <a:solidFill>
                  <a:srgbClr val="D4AF37"/>
                </a:solidFill>
                <a:latin typeface="Playfair Display" pitchFamily="34" charset="0"/>
                <a:ea typeface="Playfair Display" pitchFamily="34" charset="-122"/>
                <a:cs typeface="Playfair Display" pitchFamily="34" charset="-120"/>
              </a:rPr>
              <a:t>1</a:t>
            </a:r>
            <a:endParaRPr lang="en-US" sz="1397" dirty="0"/>
          </a:p>
        </p:txBody>
      </p:sp>
      <p:sp>
        <p:nvSpPr>
          <p:cNvPr id="6" name="Text 3"/>
          <p:cNvSpPr/>
          <p:nvPr/>
        </p:nvSpPr>
        <p:spPr>
          <a:xfrm>
            <a:off x="6688336" y="1818084"/>
            <a:ext cx="1512689" cy="197151"/>
          </a:xfrm>
          <a:prstGeom prst="rect">
            <a:avLst/>
          </a:prstGeom>
          <a:noFill/>
          <a:ln/>
        </p:spPr>
        <p:txBody>
          <a:bodyPr wrap="none" lIns="0" tIns="17018" rIns="0" bIns="0" rtlCol="0" anchor="t">
            <a:spAutoFit/>
          </a:bodyPr>
          <a:lstStyle/>
          <a:p>
            <a:pPr algn="l" indent="0" marL="0">
              <a:lnSpc>
                <a:spcPts val="1400"/>
              </a:lnSpc>
              <a:buNone/>
            </a:pPr>
            <a:r>
              <a:rPr lang="en-US" sz="834" dirty="0">
                <a:solidFill>
                  <a:srgbClr val="333333"/>
                </a:solidFill>
                <a:latin typeface="Lato" pitchFamily="34" charset="0"/>
                <a:ea typeface="Lato" pitchFamily="34" charset="-122"/>
                <a:cs typeface="Lato" pitchFamily="34" charset="-120"/>
              </a:rPr>
              <a:t>تقديم الطلب الرسمي إلى INAPI</a:t>
            </a:r>
            <a:endParaRPr lang="en-US" sz="834" dirty="0"/>
          </a:p>
        </p:txBody>
      </p:sp>
      <p:sp>
        <p:nvSpPr>
          <p:cNvPr id="7" name="Text 4"/>
          <p:cNvSpPr/>
          <p:nvPr/>
        </p:nvSpPr>
        <p:spPr>
          <a:xfrm>
            <a:off x="8286750" y="2169914"/>
            <a:ext cx="285750" cy="266105"/>
          </a:xfrm>
          <a:prstGeom prst="rect">
            <a:avLst/>
          </a:prstGeom>
          <a:noFill/>
          <a:ln/>
        </p:spPr>
        <p:txBody>
          <a:bodyPr wrap="none" lIns="0" tIns="0" rIns="0" bIns="0" rtlCol="0" anchor="t">
            <a:spAutoFit/>
          </a:bodyPr>
          <a:lstStyle/>
          <a:p>
            <a:pPr algn="ctr" indent="0" marL="0">
              <a:lnSpc>
                <a:spcPts val="1900"/>
              </a:lnSpc>
              <a:buNone/>
            </a:pPr>
            <a:r>
              <a:rPr lang="en-US" sz="1397" b="1" dirty="0">
                <a:solidFill>
                  <a:srgbClr val="D4AF37"/>
                </a:solidFill>
                <a:latin typeface="Playfair Display" pitchFamily="34" charset="0"/>
                <a:ea typeface="Playfair Display" pitchFamily="34" charset="-122"/>
                <a:cs typeface="Playfair Display" pitchFamily="34" charset="-120"/>
              </a:rPr>
              <a:t>2</a:t>
            </a:r>
            <a:endParaRPr lang="en-US" sz="1397" dirty="0"/>
          </a:p>
        </p:txBody>
      </p:sp>
      <p:sp>
        <p:nvSpPr>
          <p:cNvPr id="8" name="Text 5"/>
          <p:cNvSpPr/>
          <p:nvPr/>
        </p:nvSpPr>
        <p:spPr>
          <a:xfrm>
            <a:off x="5945386" y="2169914"/>
            <a:ext cx="2255639" cy="197151"/>
          </a:xfrm>
          <a:prstGeom prst="rect">
            <a:avLst/>
          </a:prstGeom>
          <a:noFill/>
          <a:ln/>
        </p:spPr>
        <p:txBody>
          <a:bodyPr wrap="none" lIns="0" tIns="17018" rIns="0" bIns="0" rtlCol="0" anchor="t">
            <a:spAutoFit/>
          </a:bodyPr>
          <a:lstStyle/>
          <a:p>
            <a:pPr algn="l" indent="0" marL="0">
              <a:lnSpc>
                <a:spcPts val="1400"/>
              </a:lnSpc>
              <a:buNone/>
            </a:pPr>
            <a:r>
              <a:rPr lang="en-US" sz="834" dirty="0">
                <a:solidFill>
                  <a:srgbClr val="333333"/>
                </a:solidFill>
                <a:latin typeface="Lato" pitchFamily="34" charset="0"/>
                <a:ea typeface="Lato" pitchFamily="34" charset="-122"/>
                <a:cs typeface="Lato" pitchFamily="34" charset="-120"/>
              </a:rPr>
              <a:t>انتظار التحقق والموافقة من قبل الجهات المختصة</a:t>
            </a:r>
            <a:endParaRPr lang="en-US" sz="834" dirty="0"/>
          </a:p>
        </p:txBody>
      </p:sp>
      <p:sp>
        <p:nvSpPr>
          <p:cNvPr id="9" name="Text 6"/>
          <p:cNvSpPr/>
          <p:nvPr/>
        </p:nvSpPr>
        <p:spPr>
          <a:xfrm>
            <a:off x="8286750" y="2521744"/>
            <a:ext cx="285750" cy="266105"/>
          </a:xfrm>
          <a:prstGeom prst="rect">
            <a:avLst/>
          </a:prstGeom>
          <a:noFill/>
          <a:ln/>
        </p:spPr>
        <p:txBody>
          <a:bodyPr wrap="none" lIns="0" tIns="0" rIns="0" bIns="0" rtlCol="0" anchor="t">
            <a:spAutoFit/>
          </a:bodyPr>
          <a:lstStyle/>
          <a:p>
            <a:pPr algn="ctr" indent="0" marL="0">
              <a:lnSpc>
                <a:spcPts val="1900"/>
              </a:lnSpc>
              <a:buNone/>
            </a:pPr>
            <a:r>
              <a:rPr lang="en-US" sz="1397" b="1" dirty="0">
                <a:solidFill>
                  <a:srgbClr val="D4AF37"/>
                </a:solidFill>
                <a:latin typeface="Playfair Display" pitchFamily="34" charset="0"/>
                <a:ea typeface="Playfair Display" pitchFamily="34" charset="-122"/>
                <a:cs typeface="Playfair Display" pitchFamily="34" charset="-120"/>
              </a:rPr>
              <a:t>3</a:t>
            </a:r>
            <a:endParaRPr lang="en-US" sz="1397" dirty="0"/>
          </a:p>
        </p:txBody>
      </p:sp>
      <p:sp>
        <p:nvSpPr>
          <p:cNvPr id="10" name="Text 7"/>
          <p:cNvSpPr/>
          <p:nvPr/>
        </p:nvSpPr>
        <p:spPr>
          <a:xfrm>
            <a:off x="6784777" y="2521744"/>
            <a:ext cx="1416248" cy="197151"/>
          </a:xfrm>
          <a:prstGeom prst="rect">
            <a:avLst/>
          </a:prstGeom>
          <a:noFill/>
          <a:ln/>
        </p:spPr>
        <p:txBody>
          <a:bodyPr wrap="none" lIns="0" tIns="17018" rIns="0" bIns="0" rtlCol="0" anchor="t">
            <a:spAutoFit/>
          </a:bodyPr>
          <a:lstStyle/>
          <a:p>
            <a:pPr algn="l" indent="0" marL="0">
              <a:lnSpc>
                <a:spcPts val="1400"/>
              </a:lnSpc>
              <a:buNone/>
            </a:pPr>
            <a:r>
              <a:rPr lang="en-US" sz="834" dirty="0">
                <a:solidFill>
                  <a:srgbClr val="333333"/>
                </a:solidFill>
                <a:latin typeface="Lato" pitchFamily="34" charset="0"/>
                <a:ea typeface="Lato" pitchFamily="34" charset="-122"/>
                <a:cs typeface="Lato" pitchFamily="34" charset="-120"/>
              </a:rPr>
              <a:t>تطوير نسخة محسّنة من النظام</a:t>
            </a:r>
            <a:endParaRPr lang="en-US" sz="834" dirty="0"/>
          </a:p>
        </p:txBody>
      </p:sp>
      <p:sp>
        <p:nvSpPr>
          <p:cNvPr id="11" name="Text 8"/>
          <p:cNvSpPr/>
          <p:nvPr/>
        </p:nvSpPr>
        <p:spPr>
          <a:xfrm>
            <a:off x="8286750" y="2873573"/>
            <a:ext cx="285750" cy="266105"/>
          </a:xfrm>
          <a:prstGeom prst="rect">
            <a:avLst/>
          </a:prstGeom>
          <a:noFill/>
          <a:ln/>
        </p:spPr>
        <p:txBody>
          <a:bodyPr wrap="none" lIns="0" tIns="0" rIns="0" bIns="0" rtlCol="0" anchor="t">
            <a:spAutoFit/>
          </a:bodyPr>
          <a:lstStyle/>
          <a:p>
            <a:pPr algn="ctr" indent="0" marL="0">
              <a:lnSpc>
                <a:spcPts val="1900"/>
              </a:lnSpc>
              <a:buNone/>
            </a:pPr>
            <a:r>
              <a:rPr lang="en-US" sz="1397" b="1" dirty="0">
                <a:solidFill>
                  <a:srgbClr val="D4AF37"/>
                </a:solidFill>
                <a:latin typeface="Playfair Display" pitchFamily="34" charset="0"/>
                <a:ea typeface="Playfair Display" pitchFamily="34" charset="-122"/>
                <a:cs typeface="Playfair Display" pitchFamily="34" charset="-120"/>
              </a:rPr>
              <a:t>4</a:t>
            </a:r>
            <a:endParaRPr lang="en-US" sz="1397" dirty="0"/>
          </a:p>
        </p:txBody>
      </p:sp>
      <p:sp>
        <p:nvSpPr>
          <p:cNvPr id="12" name="Text 9"/>
          <p:cNvSpPr/>
          <p:nvPr/>
        </p:nvSpPr>
        <p:spPr>
          <a:xfrm>
            <a:off x="6372225" y="2873573"/>
            <a:ext cx="1828800" cy="197151"/>
          </a:xfrm>
          <a:prstGeom prst="rect">
            <a:avLst/>
          </a:prstGeom>
          <a:noFill/>
          <a:ln/>
        </p:spPr>
        <p:txBody>
          <a:bodyPr wrap="none" lIns="0" tIns="17018" rIns="0" bIns="0" rtlCol="0" anchor="t">
            <a:spAutoFit/>
          </a:bodyPr>
          <a:lstStyle/>
          <a:p>
            <a:pPr algn="l" indent="0" marL="0">
              <a:lnSpc>
                <a:spcPts val="1400"/>
              </a:lnSpc>
              <a:buNone/>
            </a:pPr>
            <a:r>
              <a:rPr lang="en-US" sz="834" dirty="0">
                <a:solidFill>
                  <a:srgbClr val="333333"/>
                </a:solidFill>
                <a:latin typeface="Lato" pitchFamily="34" charset="0"/>
                <a:ea typeface="Lato" pitchFamily="34" charset="-122"/>
                <a:cs typeface="Lato" pitchFamily="34" charset="-120"/>
              </a:rPr>
              <a:t>توسيع قاعدة المجالات العلمية المدعومة</a:t>
            </a:r>
            <a:endParaRPr lang="en-US" sz="834" dirty="0"/>
          </a:p>
        </p:txBody>
      </p:sp>
      <p:sp>
        <p:nvSpPr>
          <p:cNvPr id="13" name="Text 10"/>
          <p:cNvSpPr/>
          <p:nvPr/>
        </p:nvSpPr>
        <p:spPr>
          <a:xfrm>
            <a:off x="8286750" y="3225403"/>
            <a:ext cx="285750" cy="266105"/>
          </a:xfrm>
          <a:prstGeom prst="rect">
            <a:avLst/>
          </a:prstGeom>
          <a:noFill/>
          <a:ln/>
        </p:spPr>
        <p:txBody>
          <a:bodyPr wrap="none" lIns="0" tIns="0" rIns="0" bIns="0" rtlCol="0" anchor="t">
            <a:spAutoFit/>
          </a:bodyPr>
          <a:lstStyle/>
          <a:p>
            <a:pPr algn="ctr" indent="0" marL="0">
              <a:lnSpc>
                <a:spcPts val="1900"/>
              </a:lnSpc>
              <a:buNone/>
            </a:pPr>
            <a:r>
              <a:rPr lang="en-US" sz="1397" b="1" dirty="0">
                <a:solidFill>
                  <a:srgbClr val="D4AF37"/>
                </a:solidFill>
                <a:latin typeface="Playfair Display" pitchFamily="34" charset="0"/>
                <a:ea typeface="Playfair Display" pitchFamily="34" charset="-122"/>
                <a:cs typeface="Playfair Display" pitchFamily="34" charset="-120"/>
              </a:rPr>
              <a:t>5</a:t>
            </a:r>
            <a:endParaRPr lang="en-US" sz="1397" dirty="0"/>
          </a:p>
        </p:txBody>
      </p:sp>
      <p:sp>
        <p:nvSpPr>
          <p:cNvPr id="14" name="Text 11"/>
          <p:cNvSpPr/>
          <p:nvPr/>
        </p:nvSpPr>
        <p:spPr>
          <a:xfrm>
            <a:off x="6502598" y="3225403"/>
            <a:ext cx="1698427" cy="197151"/>
          </a:xfrm>
          <a:prstGeom prst="rect">
            <a:avLst/>
          </a:prstGeom>
          <a:noFill/>
          <a:ln/>
        </p:spPr>
        <p:txBody>
          <a:bodyPr wrap="none" lIns="0" tIns="17018" rIns="0" bIns="0" rtlCol="0" anchor="t">
            <a:spAutoFit/>
          </a:bodyPr>
          <a:lstStyle/>
          <a:p>
            <a:pPr algn="l" indent="0" marL="0">
              <a:lnSpc>
                <a:spcPts val="1400"/>
              </a:lnSpc>
              <a:buNone/>
            </a:pPr>
            <a:r>
              <a:rPr lang="en-US" sz="834" dirty="0">
                <a:solidFill>
                  <a:srgbClr val="333333"/>
                </a:solidFill>
                <a:latin typeface="Lato" pitchFamily="34" charset="0"/>
                <a:ea typeface="Lato" pitchFamily="34" charset="-122"/>
                <a:cs typeface="Lato" pitchFamily="34" charset="-120"/>
              </a:rPr>
              <a:t>نشر النظام للاستخدام العام والتجاري</a:t>
            </a:r>
            <a:endParaRPr lang="en-US" sz="834" dirty="0"/>
          </a:p>
        </p:txBody>
      </p:sp>
      <p:sp>
        <p:nvSpPr>
          <p:cNvPr id="15" name="Text 12"/>
          <p:cNvSpPr/>
          <p:nvPr/>
        </p:nvSpPr>
        <p:spPr>
          <a:xfrm>
            <a:off x="571500" y="1553766"/>
            <a:ext cx="3857625" cy="121444"/>
          </a:xfrm>
          <a:prstGeom prst="rect">
            <a:avLst/>
          </a:prstGeom>
          <a:noFill/>
          <a:ln/>
        </p:spPr>
        <p:txBody>
          <a:bodyPr wrap="none" lIns="0" tIns="0" rIns="0" bIns="0" rtlCol="0" anchor="t">
            <a:spAutoFit/>
          </a:bodyPr>
          <a:lstStyle/>
          <a:p>
            <a:pPr algn="l" indent="0" marL="0">
              <a:lnSpc>
                <a:spcPts val="900"/>
              </a:lnSpc>
              <a:buNone/>
            </a:pPr>
            <a:r>
              <a:rPr lang="en-US" sz="727" spc="2" kern="0" dirty="0">
                <a:solidFill>
                  <a:srgbClr val="999999"/>
                </a:solidFill>
                <a:latin typeface="Lato" pitchFamily="34" charset="0"/>
                <a:ea typeface="Lato" pitchFamily="34" charset="-122"/>
                <a:cs typeface="Lato" pitchFamily="34" charset="-120"/>
              </a:rPr>
              <a:t>معلومات الاتصال</a:t>
            </a:r>
            <a:endParaRPr lang="en-US" sz="727" dirty="0"/>
          </a:p>
        </p:txBody>
      </p:sp>
      <p:sp>
        <p:nvSpPr>
          <p:cNvPr id="16" name="Text 13"/>
          <p:cNvSpPr/>
          <p:nvPr/>
        </p:nvSpPr>
        <p:spPr>
          <a:xfrm>
            <a:off x="571500" y="1818084"/>
            <a:ext cx="3857625" cy="103584"/>
          </a:xfrm>
          <a:prstGeom prst="rect">
            <a:avLst/>
          </a:prstGeom>
          <a:noFill/>
          <a:ln/>
        </p:spPr>
        <p:txBody>
          <a:bodyPr wrap="none" lIns="0" tIns="0" rIns="0" bIns="0" rtlCol="0" anchor="t">
            <a:spAutoFit/>
          </a:bodyPr>
          <a:lstStyle/>
          <a:p>
            <a:pPr algn="l" indent="0" marL="0">
              <a:lnSpc>
                <a:spcPts val="800"/>
              </a:lnSpc>
              <a:buNone/>
            </a:pPr>
            <a:r>
              <a:rPr lang="en-US" sz="621" spc="1" kern="0" dirty="0">
                <a:solidFill>
                  <a:srgbClr val="999999"/>
                </a:solidFill>
                <a:latin typeface="Lato" pitchFamily="34" charset="0"/>
                <a:ea typeface="Lato" pitchFamily="34" charset="-122"/>
                <a:cs typeface="Lato" pitchFamily="34" charset="-120"/>
              </a:rPr>
              <a:t>الاسم</a:t>
            </a:r>
            <a:endParaRPr lang="en-US" sz="621" dirty="0"/>
          </a:p>
        </p:txBody>
      </p:sp>
      <p:sp>
        <p:nvSpPr>
          <p:cNvPr id="17" name="Text 14"/>
          <p:cNvSpPr/>
          <p:nvPr/>
        </p:nvSpPr>
        <p:spPr>
          <a:xfrm>
            <a:off x="571500" y="1957388"/>
            <a:ext cx="3857625" cy="171450"/>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A192F"/>
                </a:solidFill>
                <a:latin typeface="Playfair Display" pitchFamily="34" charset="0"/>
                <a:ea typeface="Playfair Display" pitchFamily="34" charset="-122"/>
                <a:cs typeface="Playfair Display" pitchFamily="34" charset="-120"/>
              </a:rPr>
              <a:t>بن لعلالي محند أمين</a:t>
            </a:r>
            <a:endParaRPr lang="en-US" sz="885" dirty="0"/>
          </a:p>
        </p:txBody>
      </p:sp>
      <p:sp>
        <p:nvSpPr>
          <p:cNvPr id="18" name="Text 15"/>
          <p:cNvSpPr/>
          <p:nvPr/>
        </p:nvSpPr>
        <p:spPr>
          <a:xfrm>
            <a:off x="571500" y="2200275"/>
            <a:ext cx="3857625" cy="103584"/>
          </a:xfrm>
          <a:prstGeom prst="rect">
            <a:avLst/>
          </a:prstGeom>
          <a:noFill/>
          <a:ln/>
        </p:spPr>
        <p:txBody>
          <a:bodyPr wrap="none" lIns="0" tIns="0" rIns="0" bIns="0" rtlCol="0" anchor="t">
            <a:spAutoFit/>
          </a:bodyPr>
          <a:lstStyle/>
          <a:p>
            <a:pPr algn="l" indent="0" marL="0">
              <a:lnSpc>
                <a:spcPts val="800"/>
              </a:lnSpc>
              <a:buNone/>
            </a:pPr>
            <a:r>
              <a:rPr lang="en-US" sz="621" spc="1" kern="0" dirty="0">
                <a:solidFill>
                  <a:srgbClr val="999999"/>
                </a:solidFill>
                <a:latin typeface="Lato" pitchFamily="34" charset="0"/>
                <a:ea typeface="Lato" pitchFamily="34" charset="-122"/>
                <a:cs typeface="Lato" pitchFamily="34" charset="-120"/>
              </a:rPr>
              <a:t>الهاتف</a:t>
            </a:r>
            <a:endParaRPr lang="en-US" sz="621" dirty="0"/>
          </a:p>
        </p:txBody>
      </p:sp>
      <p:sp>
        <p:nvSpPr>
          <p:cNvPr id="19" name="Text 16"/>
          <p:cNvSpPr/>
          <p:nvPr/>
        </p:nvSpPr>
        <p:spPr>
          <a:xfrm>
            <a:off x="571500" y="2339578"/>
            <a:ext cx="3857625" cy="171450"/>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A192F"/>
                </a:solidFill>
                <a:latin typeface="Playfair Display" pitchFamily="34" charset="0"/>
                <a:ea typeface="Playfair Display" pitchFamily="34" charset="-122"/>
                <a:cs typeface="Playfair Display" pitchFamily="34" charset="-120"/>
              </a:rPr>
              <a:t>+213 659 45 45 73</a:t>
            </a:r>
            <a:endParaRPr lang="en-US" sz="885" dirty="0"/>
          </a:p>
        </p:txBody>
      </p:sp>
      <p:sp>
        <p:nvSpPr>
          <p:cNvPr id="20" name="Text 17"/>
          <p:cNvSpPr/>
          <p:nvPr/>
        </p:nvSpPr>
        <p:spPr>
          <a:xfrm>
            <a:off x="571500" y="2582466"/>
            <a:ext cx="3857625" cy="103584"/>
          </a:xfrm>
          <a:prstGeom prst="rect">
            <a:avLst/>
          </a:prstGeom>
          <a:noFill/>
          <a:ln/>
        </p:spPr>
        <p:txBody>
          <a:bodyPr wrap="none" lIns="0" tIns="0" rIns="0" bIns="0" rtlCol="0" anchor="t">
            <a:spAutoFit/>
          </a:bodyPr>
          <a:lstStyle/>
          <a:p>
            <a:pPr algn="l" indent="0" marL="0">
              <a:lnSpc>
                <a:spcPts val="800"/>
              </a:lnSpc>
              <a:buNone/>
            </a:pPr>
            <a:r>
              <a:rPr lang="en-US" sz="621" spc="1" kern="0" dirty="0">
                <a:solidFill>
                  <a:srgbClr val="999999"/>
                </a:solidFill>
                <a:latin typeface="Lato" pitchFamily="34" charset="0"/>
                <a:ea typeface="Lato" pitchFamily="34" charset="-122"/>
                <a:cs typeface="Lato" pitchFamily="34" charset="-120"/>
              </a:rPr>
              <a:t>الموقع</a:t>
            </a:r>
            <a:endParaRPr lang="en-US" sz="621" dirty="0"/>
          </a:p>
        </p:txBody>
      </p:sp>
      <p:sp>
        <p:nvSpPr>
          <p:cNvPr id="21" name="Text 18"/>
          <p:cNvSpPr/>
          <p:nvPr/>
        </p:nvSpPr>
        <p:spPr>
          <a:xfrm>
            <a:off x="571500" y="2721769"/>
            <a:ext cx="3857625" cy="171450"/>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A192F"/>
                </a:solidFill>
                <a:latin typeface="Playfair Display" pitchFamily="34" charset="0"/>
                <a:ea typeface="Playfair Display" pitchFamily="34" charset="-122"/>
                <a:cs typeface="Playfair Display" pitchFamily="34" charset="-120"/>
              </a:rPr>
              <a:t>تلمسان، الجزائر</a:t>
            </a:r>
            <a:endParaRPr lang="en-US" sz="885" dirty="0"/>
          </a:p>
        </p:txBody>
      </p:sp>
      <p:sp>
        <p:nvSpPr>
          <p:cNvPr id="22" name="Text 19"/>
          <p:cNvSpPr/>
          <p:nvPr/>
        </p:nvSpPr>
        <p:spPr>
          <a:xfrm>
            <a:off x="571500" y="2964656"/>
            <a:ext cx="3857625" cy="103584"/>
          </a:xfrm>
          <a:prstGeom prst="rect">
            <a:avLst/>
          </a:prstGeom>
          <a:noFill/>
          <a:ln/>
        </p:spPr>
        <p:txBody>
          <a:bodyPr wrap="none" lIns="0" tIns="0" rIns="0" bIns="0" rtlCol="0" anchor="t">
            <a:spAutoFit/>
          </a:bodyPr>
          <a:lstStyle/>
          <a:p>
            <a:pPr algn="l" indent="0" marL="0">
              <a:lnSpc>
                <a:spcPts val="800"/>
              </a:lnSpc>
              <a:buNone/>
            </a:pPr>
            <a:r>
              <a:rPr lang="en-US" sz="621" spc="1" kern="0" dirty="0">
                <a:solidFill>
                  <a:srgbClr val="999999"/>
                </a:solidFill>
                <a:latin typeface="Lato" pitchFamily="34" charset="0"/>
                <a:ea typeface="Lato" pitchFamily="34" charset="-122"/>
                <a:cs typeface="Lato" pitchFamily="34" charset="-120"/>
              </a:rPr>
              <a:t>المشروع</a:t>
            </a:r>
            <a:endParaRPr lang="en-US" sz="621" dirty="0"/>
          </a:p>
        </p:txBody>
      </p:sp>
      <p:sp>
        <p:nvSpPr>
          <p:cNvPr id="23" name="Text 20"/>
          <p:cNvSpPr/>
          <p:nvPr/>
        </p:nvSpPr>
        <p:spPr>
          <a:xfrm>
            <a:off x="571500" y="3103959"/>
            <a:ext cx="3857625" cy="171450"/>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A192F"/>
                </a:solidFill>
                <a:latin typeface="Playfair Display" pitchFamily="34" charset="0"/>
                <a:ea typeface="Playfair Display" pitchFamily="34" charset="-122"/>
                <a:cs typeface="Playfair Display" pitchFamily="34" charset="-120"/>
              </a:rPr>
              <a:t>Patent Oracle ⚛️</a:t>
            </a:r>
            <a:endParaRPr lang="en-US" sz="885" dirty="0"/>
          </a:p>
        </p:txBody>
      </p:sp>
      <p:sp>
        <p:nvSpPr>
          <p:cNvPr id="24" name="Text 21"/>
          <p:cNvSpPr/>
          <p:nvPr/>
        </p:nvSpPr>
        <p:spPr>
          <a:xfrm>
            <a:off x="571500" y="3403997"/>
            <a:ext cx="3857625" cy="194304"/>
          </a:xfrm>
          <a:prstGeom prst="rect">
            <a:avLst/>
          </a:prstGeom>
          <a:noFill/>
          <a:ln/>
        </p:spPr>
        <p:txBody>
          <a:bodyPr wrap="none" lIns="0" tIns="0" rIns="0" bIns="0" rtlCol="0" anchor="t">
            <a:spAutoFit/>
          </a:bodyPr>
          <a:lstStyle/>
          <a:p>
            <a:pPr algn="ctr" indent="0" marL="0">
              <a:lnSpc>
                <a:spcPts val="1500"/>
              </a:lnSpc>
              <a:buNone/>
            </a:pPr>
            <a:r>
              <a:rPr lang="en-US" sz="834" dirty="0">
                <a:solidFill>
                  <a:srgbClr val="333333"/>
                </a:solidFill>
                <a:latin typeface="Lato" pitchFamily="34" charset="0"/>
                <a:ea typeface="Lato" pitchFamily="34" charset="-122"/>
                <a:cs typeface="Lato" pitchFamily="34" charset="-120"/>
              </a:rPr>
              <a:t>شكراً لاهتمامكم بمشروع Patent Oracle. نتطلع إلى التعاون والابتكار المستمر.</a:t>
            </a:r>
            <a:endParaRPr lang="en-US" sz="834" dirty="0"/>
          </a:p>
        </p:txBody>
      </p:sp>
      <p:sp>
        <p:nvSpPr>
          <p:cNvPr id="25" name="Text 22"/>
          <p:cNvSpPr/>
          <p:nvPr/>
        </p:nvSpPr>
        <p:spPr>
          <a:xfrm>
            <a:off x="571500" y="3705458"/>
            <a:ext cx="3857625" cy="228600"/>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D4AF37"/>
                </a:solidFill>
                <a:latin typeface="Playfair Display" pitchFamily="34" charset="0"/>
                <a:ea typeface="Playfair Display" pitchFamily="34" charset="-122"/>
                <a:cs typeface="Playfair Display" pitchFamily="34" charset="-120"/>
              </a:rPr>
              <a:t>Patent Oracle ⚛️</a:t>
            </a:r>
            <a:endParaRPr lang="en-US" sz="1193"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2026-03-08T23:17:24Z</dcterms:created>
  <dcterms:modified xsi:type="dcterms:W3CDTF">2026-03-08T23:17:24Z</dcterms:modified>
</cp:coreProperties>
</file>